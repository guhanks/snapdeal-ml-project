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presentation walks through three things: what data we had, what we found in it, and most importantly, what those findings mean for how Snapdeal should redesign its product recommendation and promotional strategy. Everything here comes from an 800-respondent customer survey covering demographics, shopping habits, cart behavior, reviews, and recommendation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structure this whole deck. First, what raw material did we have — what does the dataset actually cover. Second, what patterns did the analysis surface. Third, and this is the part leadership cares about most, what should we actually change in the recommendation engine and promotional strategy because of what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findings, here's the raw material. Eight hundred customers answered a survey spanning five themes — demographics, shopping habits, cart behavior, reviews, and recommendations. We cleaned the data thoroughly: fixed a mislabeled duplicate column, standardized inconsistent category labels like 'others' versus 'Other', converted ratings to proper numeric types, and resolved all missing values — so every chart from here on is built on a fully clean, consistent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who these customers are. The age distribution is broad and fairly flat from 18 to 67, averaging around 36 — this isn't a single-generation customer base. Gender is close to an even four-way split. The takeaway here is mostly a caution: demographics alone won't tell you much about who's happy or unhappy with Snapdeal — we'll see shortly that the real differences are behavioral, not demographic.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select multiple categories, and Clothing &amp; Fashion comes out clearly on top, with Beauty &amp; Personal Care and Home &amp; Kitchen close behind. This matters for two reasons we'll return to: Fashion is the natural anchor for cross-sell, and because interest is spread across several categories rather than concentrated in one, a one-size-fits-all recommendation strategy is unlikely to work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actionable findings in the whole survey. When we asked why carts get abandoned, the top reason by far is finding a better price elsewhere, with high shipping costs close behind. Notice what's NOT on top: app usability issues. The friction customers report is commercial — price and shipping — not experiential. That has a direct implication for where to spend improvement effort, which we'll come back to in the recommendations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satisfaction sits almost exactly at the midpoint, 2.99 out of 5. It would be easy to read that as 'customers feel neutral,' but the standard deviation of 1.41 tells a different story — look at the chart, the ratings pile up at both the low end and the high end, not in the middle. This is a polarized customer base, not a lukewarm one, and that distinction matters a lot for how we segment and target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Applying the business definitions of Frequent Buyer, Occasional Shopper, and At-Risk Customer, more than half the customer base — 56 percent — currently falls into At-Risk. Only 16 percent are true Frequent Buyers. And critically, average age and gender split are nearly identical across all three segments — this split has nothing to do with who the customer is demographically, and everything to do with how they behave. That's good news, actually: it means the fix is about experience and incentives, which we can act on, not about audience, which we can't easily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supplemented the rule-based segments with K-Means clustering across twelve behavioral signals, which independently confirms four distinct groups. The one to really pay attention to is the cluster we labeled 'Frequent but Unhappy' — they buy the most often of any group, but their satisfaction is nearly as low as the At-Risk segment. Because they're still buying frequently, a purely rule-based view could miss them as a churn risk. This is the highest-frequency revenue currently in jeopardy, and it deserves its own retention treatment separate from generic At-Risk outreach.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finding that should reshape how we think about the recommendation and review systems. We correlated recommendation helpfulness, recommendation frequency, and review trust against both overall satisfaction and perceived rating accuracy. Every single correlation is essentially zero — under 0.05 in magnitude. And only 30 percent of customers consistently find personalized recommendations helpful. In plain terms: the current recommendation logic isn't meaningfully connected to what makes customers happy. That's a strong signal the underlying logic needs to change, not just be tuned.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market basket analysis on the multi-select category field shows Clothing &amp; Fashion acting as the strongest hub — it shows up as the highest-confidence outcome when Groceries, Home &amp; Kitchen, and other categories are already in the basket, in some cases with over 70 percent confidence. The co-occurrence matrix on the right backs this up with raw counts: Fashion, Beauty, and Home &amp; Kitchen consistently travel together. This is real, grounded co-purchase behavior — not an assumption — and it's exactly the kind of signal a recommendation engine should be built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 pulling everything together into what we should actually do to the recommendation system. Four changes. One: shift the underlying logic from generic popularity to the basket-affinity patterns we just saw, anchored on Fashion. Two: use behavioral clustering, not just purchase frequency, to catch the 'frequent but unhappy' customers before they churn — they're hiding in plain sight if you only look at how often someone buys. Three: since price and shipping are the actual abandonment drivers, pair any new recommendation-driven bundle with a real financial incentive, not just a better product suggestion. Four: given only 30 percent of customers trust current recommendations, validate the new approach with an A/B test rather than a full-scale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here's a simple phasing. Immediately, launch a win-back offer targeted at At-Risk and Frequent-but-Unhappy customers, centered on price and shipping since that's what actually drives them away. Over the next four to six weeks, rebuild the recommendation logic around the basket-affinity rules we found and run it as an A/B test against the current system. And on an ongoing basis, track satisfaction and rating-accuracy correlation with the new engine as the real success metric — not just click-through rate, since we've shown click-through-style engagement doesn't reliably predict happiness.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picture — what's in the data, what it tells us, and the concrete changes it points to for Snapdeal's recommendation strategy. Happy to take questions, and the full analysis notebook and cleaned dataset are available if anyone wants to dig into the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C2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C2C2C"/>
          </a:solidFill>
          <a:ln/>
        </p:spPr>
      </p:sp>
      <p:sp>
        <p:nvSpPr>
          <p:cNvPr id="3" name="Shape 1"/>
          <p:cNvSpPr/>
          <p:nvPr/>
        </p:nvSpPr>
        <p:spPr>
          <a:xfrm>
            <a:off x="8778240" y="-2011680"/>
            <a:ext cx="5486400" cy="5486400"/>
          </a:xfrm>
          <a:prstGeom prst="ellipse">
            <a:avLst/>
          </a:prstGeom>
          <a:solidFill>
            <a:srgbClr val="E4392E">
              <a:alpha val="18000"/>
            </a:srgbClr>
          </a:solidFill>
          <a:ln/>
        </p:spPr>
      </p:sp>
      <p:sp>
        <p:nvSpPr>
          <p:cNvPr id="4" name="Shape 2"/>
          <p:cNvSpPr/>
          <p:nvPr/>
        </p:nvSpPr>
        <p:spPr>
          <a:xfrm>
            <a:off x="9875520" y="3291840"/>
            <a:ext cx="3657600" cy="3657600"/>
          </a:xfrm>
          <a:prstGeom prst="ellipse">
            <a:avLst/>
          </a:prstGeom>
          <a:solidFill>
            <a:srgbClr val="F5A623">
              <a:alpha val="12000"/>
            </a:srgbClr>
          </a:solidFill>
          <a:ln/>
        </p:spPr>
      </p:sp>
      <p:sp>
        <p:nvSpPr>
          <p:cNvPr id="5" name="Text 3"/>
          <p:cNvSpPr txBox="1"/>
          <p:nvPr/>
        </p:nvSpPr>
        <p:spPr>
          <a:xfrm>
            <a:off x="822960" y="1965960"/>
            <a:ext cx="7315200" cy="365760"/>
          </a:xfrm>
          <a:prstGeom prst="rect">
            <a:avLst/>
          </a:prstGeom>
          <a:noFill/>
          <a:ln/>
        </p:spPr>
        <p:txBody>
          <a:bodyPr wrap="square" rtlCol="0" anchor="ctr"/>
          <a:lstStyle/>
          <a:p>
            <a:pPr indent="0" marL="0">
              <a:buNone/>
            </a:pPr>
            <a:r>
              <a:rPr lang="en-US" sz="1400" b="1" spc="300" kern="0" dirty="0">
                <a:solidFill>
                  <a:srgbClr val="F5A623"/>
                </a:solidFill>
                <a:latin typeface="Calibri" pitchFamily="34" charset="0"/>
                <a:ea typeface="Calibri" pitchFamily="34" charset="-122"/>
                <a:cs typeface="Calibri" pitchFamily="34" charset="-120"/>
              </a:rPr>
              <a:t>SNAPDEAL  ·  CUSTOMER ANALYTICS</a:t>
            </a:r>
            <a:endParaRPr lang="en-US" sz="1400" dirty="0"/>
          </a:p>
        </p:txBody>
      </p:sp>
      <p:sp>
        <p:nvSpPr>
          <p:cNvPr id="6" name="Text 4"/>
          <p:cNvSpPr txBox="1"/>
          <p:nvPr/>
        </p:nvSpPr>
        <p:spPr>
          <a:xfrm>
            <a:off x="822960" y="2377440"/>
            <a:ext cx="9875520" cy="1737360"/>
          </a:xfrm>
          <a:prstGeom prst="rect">
            <a:avLst/>
          </a:prstGeom>
          <a:noFill/>
          <a:ln/>
        </p:spPr>
        <p:txBody>
          <a:bodyPr wrap="square"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Customer Purchasing Behavior &amp;</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Product Recommendation Findings</a:t>
            </a:r>
            <a:endParaRPr lang="en-US" sz="4000" dirty="0"/>
          </a:p>
        </p:txBody>
      </p:sp>
      <p:sp>
        <p:nvSpPr>
          <p:cNvPr id="7" name="Text 5"/>
          <p:cNvSpPr txBox="1"/>
          <p:nvPr/>
        </p:nvSpPr>
        <p:spPr>
          <a:xfrm>
            <a:off x="822960" y="4160520"/>
            <a:ext cx="8686800" cy="548640"/>
          </a:xfrm>
          <a:prstGeom prst="rect">
            <a:avLst/>
          </a:prstGeom>
          <a:noFill/>
          <a:ln/>
        </p:spPr>
        <p:txBody>
          <a:bodyPr wrap="square" rtlCol="0" anchor="ctr"/>
          <a:lstStyle/>
          <a:p>
            <a:pPr indent="0" marL="0">
              <a:buNone/>
            </a:pPr>
            <a:r>
              <a:rPr lang="en-US" sz="1600" i="1" dirty="0">
                <a:solidFill>
                  <a:srgbClr val="D8D8D8"/>
                </a:solidFill>
                <a:latin typeface="Calibri" pitchFamily="34" charset="0"/>
                <a:ea typeface="Calibri" pitchFamily="34" charset="-122"/>
                <a:cs typeface="Calibri" pitchFamily="34" charset="-120"/>
              </a:rPr>
              <a:t>What the survey data shows, what it means, and how it should reshape Snapdeal's recommendation strategy</a:t>
            </a:r>
            <a:endParaRPr lang="en-US" sz="1600" dirty="0"/>
          </a:p>
        </p:txBody>
      </p:sp>
      <p:sp>
        <p:nvSpPr>
          <p:cNvPr id="8" name="Shape 6"/>
          <p:cNvSpPr/>
          <p:nvPr/>
        </p:nvSpPr>
        <p:spPr>
          <a:xfrm>
            <a:off x="822960" y="4892040"/>
            <a:ext cx="502920" cy="36576"/>
          </a:xfrm>
          <a:prstGeom prst="rect">
            <a:avLst/>
          </a:prstGeom>
          <a:solidFill>
            <a:srgbClr val="E4392E"/>
          </a:solidFill>
          <a:ln/>
        </p:spPr>
      </p:sp>
      <p:sp>
        <p:nvSpPr>
          <p:cNvPr id="9" name="Text 7"/>
          <p:cNvSpPr txBox="1"/>
          <p:nvPr/>
        </p:nvSpPr>
        <p:spPr>
          <a:xfrm>
            <a:off x="822960" y="6126480"/>
            <a:ext cx="7315200" cy="365760"/>
          </a:xfrm>
          <a:prstGeom prst="rect">
            <a:avLst/>
          </a:prstGeom>
          <a:noFill/>
          <a:ln/>
        </p:spPr>
        <p:txBody>
          <a:bodyPr wrap="square" rtlCol="0" anchor="ctr"/>
          <a:lstStyle/>
          <a:p>
            <a:pPr indent="0" marL="0">
              <a:buNone/>
            </a:pPr>
            <a:r>
              <a:rPr lang="en-US" sz="1200" dirty="0">
                <a:solidFill>
                  <a:srgbClr val="9A9A9A"/>
                </a:solidFill>
                <a:latin typeface="Calibri" pitchFamily="34" charset="0"/>
                <a:ea typeface="Calibri" pitchFamily="34" charset="-122"/>
                <a:cs typeface="Calibri" pitchFamily="34" charset="-120"/>
              </a:rPr>
              <a:t>Based on an 800-respondent customer survey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AGENDA</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Three questions we'll answer</a:t>
            </a:r>
            <a:endParaRPr lang="en-US" sz="3000" dirty="0"/>
          </a:p>
        </p:txBody>
      </p:sp>
      <p:sp>
        <p:nvSpPr>
          <p:cNvPr id="4" name="Text 2"/>
          <p:cNvSpPr txBox="1"/>
          <p:nvPr/>
        </p:nvSpPr>
        <p:spPr>
          <a:xfrm>
            <a:off x="640080" y="2011680"/>
            <a:ext cx="1005840" cy="1005840"/>
          </a:xfrm>
          <a:prstGeom prst="rect">
            <a:avLst/>
          </a:prstGeom>
          <a:noFill/>
          <a:ln/>
        </p:spPr>
        <p:txBody>
          <a:bodyPr wrap="square" lIns="0" tIns="0" rIns="0" bIns="0" rtlCol="0" anchor="ctr"/>
          <a:lstStyle/>
          <a:p>
            <a:pPr indent="0" marL="0">
              <a:buNone/>
            </a:pPr>
            <a:r>
              <a:rPr lang="en-US" sz="4600" b="1" dirty="0">
                <a:solidFill>
                  <a:srgbClr val="E3E3E3"/>
                </a:solidFill>
                <a:latin typeface="Cambria" pitchFamily="34" charset="0"/>
                <a:ea typeface="Cambria" pitchFamily="34" charset="-122"/>
                <a:cs typeface="Cambria" pitchFamily="34" charset="-120"/>
              </a:rPr>
              <a:t>01</a:t>
            </a:r>
            <a:endParaRPr lang="en-US" sz="4600" dirty="0"/>
          </a:p>
        </p:txBody>
      </p:sp>
      <p:sp>
        <p:nvSpPr>
          <p:cNvPr id="5" name="Text 3"/>
          <p:cNvSpPr txBox="1"/>
          <p:nvPr/>
        </p:nvSpPr>
        <p:spPr>
          <a:xfrm>
            <a:off x="1737360" y="2039112"/>
            <a:ext cx="8961120" cy="411480"/>
          </a:xfrm>
          <a:prstGeom prst="rect">
            <a:avLst/>
          </a:prstGeom>
          <a:noFill/>
          <a:ln/>
        </p:spPr>
        <p:txBody>
          <a:bodyPr wrap="square" lIns="0" tIns="0" rIns="0" bIns="0" rtlCol="0" anchor="ctr"/>
          <a:lstStyle/>
          <a:p>
            <a:pPr indent="0" marL="0">
              <a:buNone/>
            </a:pPr>
            <a:r>
              <a:rPr lang="en-US" sz="2000" b="1" dirty="0">
                <a:solidFill>
                  <a:srgbClr val="2C2C2C"/>
                </a:solidFill>
                <a:latin typeface="Cambria" pitchFamily="34" charset="0"/>
                <a:ea typeface="Cambria" pitchFamily="34" charset="-122"/>
                <a:cs typeface="Cambria" pitchFamily="34" charset="-120"/>
              </a:rPr>
              <a:t>What's in the data?</a:t>
            </a:r>
            <a:endParaRPr lang="en-US" sz="2000" dirty="0"/>
          </a:p>
        </p:txBody>
      </p:sp>
      <p:sp>
        <p:nvSpPr>
          <p:cNvPr id="6" name="Text 4"/>
          <p:cNvSpPr txBox="1"/>
          <p:nvPr/>
        </p:nvSpPr>
        <p:spPr>
          <a:xfrm>
            <a:off x="1737360" y="2468880"/>
            <a:ext cx="9052560" cy="54864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800 survey responses across demographics, shopping habits, cart behavior, reviews, and recommendation engagement — cleaned and standardized.</a:t>
            </a:r>
            <a:endParaRPr lang="en-US" sz="1350" dirty="0"/>
          </a:p>
        </p:txBody>
      </p:sp>
      <p:sp>
        <p:nvSpPr>
          <p:cNvPr id="7" name="Text 5"/>
          <p:cNvSpPr txBox="1"/>
          <p:nvPr/>
        </p:nvSpPr>
        <p:spPr>
          <a:xfrm>
            <a:off x="640080" y="3429000"/>
            <a:ext cx="1005840" cy="1005840"/>
          </a:xfrm>
          <a:prstGeom prst="rect">
            <a:avLst/>
          </a:prstGeom>
          <a:noFill/>
          <a:ln/>
        </p:spPr>
        <p:txBody>
          <a:bodyPr wrap="square" lIns="0" tIns="0" rIns="0" bIns="0" rtlCol="0" anchor="ctr"/>
          <a:lstStyle/>
          <a:p>
            <a:pPr indent="0" marL="0">
              <a:buNone/>
            </a:pPr>
            <a:r>
              <a:rPr lang="en-US" sz="4600" b="1" dirty="0">
                <a:solidFill>
                  <a:srgbClr val="E3E3E3"/>
                </a:solidFill>
                <a:latin typeface="Cambria" pitchFamily="34" charset="0"/>
                <a:ea typeface="Cambria" pitchFamily="34" charset="-122"/>
                <a:cs typeface="Cambria" pitchFamily="34" charset="-120"/>
              </a:rPr>
              <a:t>02</a:t>
            </a:r>
            <a:endParaRPr lang="en-US" sz="4600" dirty="0"/>
          </a:p>
        </p:txBody>
      </p:sp>
      <p:sp>
        <p:nvSpPr>
          <p:cNvPr id="8" name="Text 6"/>
          <p:cNvSpPr txBox="1"/>
          <p:nvPr/>
        </p:nvSpPr>
        <p:spPr>
          <a:xfrm>
            <a:off x="1737360" y="3456432"/>
            <a:ext cx="8961120" cy="411480"/>
          </a:xfrm>
          <a:prstGeom prst="rect">
            <a:avLst/>
          </a:prstGeom>
          <a:noFill/>
          <a:ln/>
        </p:spPr>
        <p:txBody>
          <a:bodyPr wrap="square" lIns="0" tIns="0" rIns="0" bIns="0" rtlCol="0" anchor="ctr"/>
          <a:lstStyle/>
          <a:p>
            <a:pPr indent="0" marL="0">
              <a:buNone/>
            </a:pPr>
            <a:r>
              <a:rPr lang="en-US" sz="2000" b="1" dirty="0">
                <a:solidFill>
                  <a:srgbClr val="2C2C2C"/>
                </a:solidFill>
                <a:latin typeface="Cambria" pitchFamily="34" charset="0"/>
                <a:ea typeface="Cambria" pitchFamily="34" charset="-122"/>
                <a:cs typeface="Cambria" pitchFamily="34" charset="-120"/>
              </a:rPr>
              <a:t>What did we find?</a:t>
            </a:r>
            <a:endParaRPr lang="en-US" sz="2000" dirty="0"/>
          </a:p>
        </p:txBody>
      </p:sp>
      <p:sp>
        <p:nvSpPr>
          <p:cNvPr id="9" name="Text 7"/>
          <p:cNvSpPr txBox="1"/>
          <p:nvPr/>
        </p:nvSpPr>
        <p:spPr>
          <a:xfrm>
            <a:off x="1737360" y="3886200"/>
            <a:ext cx="9052560" cy="54864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Where customers are satisfied, where they drop off, how they naturally segment, and what they actually buy together.</a:t>
            </a:r>
            <a:endParaRPr lang="en-US" sz="1350" dirty="0"/>
          </a:p>
        </p:txBody>
      </p:sp>
      <p:sp>
        <p:nvSpPr>
          <p:cNvPr id="10" name="Text 8"/>
          <p:cNvSpPr txBox="1"/>
          <p:nvPr/>
        </p:nvSpPr>
        <p:spPr>
          <a:xfrm>
            <a:off x="640080" y="4846320"/>
            <a:ext cx="1005840" cy="1005840"/>
          </a:xfrm>
          <a:prstGeom prst="rect">
            <a:avLst/>
          </a:prstGeom>
          <a:noFill/>
          <a:ln/>
        </p:spPr>
        <p:txBody>
          <a:bodyPr wrap="square" lIns="0" tIns="0" rIns="0" bIns="0" rtlCol="0" anchor="ctr"/>
          <a:lstStyle/>
          <a:p>
            <a:pPr indent="0" marL="0">
              <a:buNone/>
            </a:pPr>
            <a:r>
              <a:rPr lang="en-US" sz="4600" b="1" dirty="0">
                <a:solidFill>
                  <a:srgbClr val="E3E3E3"/>
                </a:solidFill>
                <a:latin typeface="Cambria" pitchFamily="34" charset="0"/>
                <a:ea typeface="Cambria" pitchFamily="34" charset="-122"/>
                <a:cs typeface="Cambria" pitchFamily="34" charset="-120"/>
              </a:rPr>
              <a:t>03</a:t>
            </a:r>
            <a:endParaRPr lang="en-US" sz="4600" dirty="0"/>
          </a:p>
        </p:txBody>
      </p:sp>
      <p:sp>
        <p:nvSpPr>
          <p:cNvPr id="11" name="Text 9"/>
          <p:cNvSpPr txBox="1"/>
          <p:nvPr/>
        </p:nvSpPr>
        <p:spPr>
          <a:xfrm>
            <a:off x="1737360" y="4873752"/>
            <a:ext cx="8961120" cy="411480"/>
          </a:xfrm>
          <a:prstGeom prst="rect">
            <a:avLst/>
          </a:prstGeom>
          <a:noFill/>
          <a:ln/>
        </p:spPr>
        <p:txBody>
          <a:bodyPr wrap="square" lIns="0" tIns="0" rIns="0" bIns="0" rtlCol="0" anchor="ctr"/>
          <a:lstStyle/>
          <a:p>
            <a:pPr indent="0" marL="0">
              <a:buNone/>
            </a:pPr>
            <a:r>
              <a:rPr lang="en-US" sz="2000" b="1" dirty="0">
                <a:solidFill>
                  <a:srgbClr val="2C2C2C"/>
                </a:solidFill>
                <a:latin typeface="Cambria" pitchFamily="34" charset="0"/>
                <a:ea typeface="Cambria" pitchFamily="34" charset="-122"/>
                <a:cs typeface="Cambria" pitchFamily="34" charset="-120"/>
              </a:rPr>
              <a:t>What should we do about it?</a:t>
            </a:r>
            <a:endParaRPr lang="en-US" sz="2000" dirty="0"/>
          </a:p>
        </p:txBody>
      </p:sp>
      <p:sp>
        <p:nvSpPr>
          <p:cNvPr id="12" name="Text 10"/>
          <p:cNvSpPr txBox="1"/>
          <p:nvPr/>
        </p:nvSpPr>
        <p:spPr>
          <a:xfrm>
            <a:off x="1737360" y="5303520"/>
            <a:ext cx="9052560" cy="548640"/>
          </a:xfrm>
          <a:prstGeom prst="rect">
            <a:avLst/>
          </a:prstGeom>
          <a:noFill/>
          <a:ln/>
        </p:spPr>
        <p:txBody>
          <a:bodyPr wrap="square" lIns="0" tIns="0" rIns="0" bIns="0" rtlCol="0" anchor="ctr"/>
          <a:lstStyle/>
          <a:p>
            <a:pPr indent="0" marL="0">
              <a:buNone/>
            </a:pPr>
            <a:r>
              <a:rPr lang="en-US" sz="1350" dirty="0">
                <a:solidFill>
                  <a:srgbClr val="5A5A5A"/>
                </a:solidFill>
                <a:latin typeface="Calibri" pitchFamily="34" charset="0"/>
                <a:ea typeface="Calibri" pitchFamily="34" charset="-122"/>
                <a:cs typeface="Calibri" pitchFamily="34" charset="-120"/>
              </a:rPr>
              <a:t>Concrete changes to the recommendation engine, promotions, and retention strategy — grounded directly in the findings.</a:t>
            </a:r>
            <a:endParaRPr lang="en-US" sz="1350" dirty="0"/>
          </a:p>
        </p:txBody>
      </p:sp>
      <p:sp>
        <p:nvSpPr>
          <p:cNvPr id="13" name="Text 11"/>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PART 1 · WHAT'S THERE</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An 800-respondent snapshot of shopping behavior</a:t>
            </a:r>
            <a:endParaRPr lang="en-US" sz="3000" dirty="0"/>
          </a:p>
        </p:txBody>
      </p:sp>
      <p:sp>
        <p:nvSpPr>
          <p:cNvPr id="4" name="Text 2"/>
          <p:cNvSpPr txBox="1"/>
          <p:nvPr/>
        </p:nvSpPr>
        <p:spPr>
          <a:xfrm>
            <a:off x="640080" y="1874520"/>
            <a:ext cx="2377440" cy="685800"/>
          </a:xfrm>
          <a:prstGeom prst="rect">
            <a:avLst/>
          </a:prstGeom>
          <a:noFill/>
          <a:ln/>
        </p:spPr>
        <p:txBody>
          <a:bodyPr wrap="square" lIns="0" tIns="0" rIns="0" bIns="0" rtlCol="0" anchor="ctr"/>
          <a:lstStyle/>
          <a:p>
            <a:pPr algn="l" indent="0" marL="0">
              <a:buNone/>
            </a:pPr>
            <a:r>
              <a:rPr lang="en-US" sz="4000" b="1" dirty="0">
                <a:solidFill>
                  <a:srgbClr val="E4392E"/>
                </a:solidFill>
                <a:latin typeface="Cambria" pitchFamily="34" charset="0"/>
                <a:ea typeface="Cambria" pitchFamily="34" charset="-122"/>
                <a:cs typeface="Cambria" pitchFamily="34" charset="-120"/>
              </a:rPr>
              <a:t>800</a:t>
            </a:r>
            <a:endParaRPr lang="en-US" sz="4000" dirty="0"/>
          </a:p>
        </p:txBody>
      </p:sp>
      <p:sp>
        <p:nvSpPr>
          <p:cNvPr id="5" name="Text 3"/>
          <p:cNvSpPr txBox="1"/>
          <p:nvPr/>
        </p:nvSpPr>
        <p:spPr>
          <a:xfrm>
            <a:off x="640080" y="2532888"/>
            <a:ext cx="2377440" cy="502920"/>
          </a:xfrm>
          <a:prstGeom prst="rect">
            <a:avLst/>
          </a:prstGeom>
          <a:noFill/>
          <a:ln/>
        </p:spPr>
        <p:txBody>
          <a:bodyPr wrap="square" lIns="0" tIns="0" rIns="0" bIns="0" rtlCol="0" anchor="ctr"/>
          <a:lstStyle/>
          <a:p>
            <a:pPr algn="l" indent="0" marL="0">
              <a:buNone/>
            </a:pPr>
            <a:r>
              <a:rPr lang="en-US" sz="1250" dirty="0">
                <a:solidFill>
                  <a:srgbClr val="5A5A5A"/>
                </a:solidFill>
                <a:latin typeface="Calibri" pitchFamily="34" charset="0"/>
                <a:ea typeface="Calibri" pitchFamily="34" charset="-122"/>
                <a:cs typeface="Calibri" pitchFamily="34" charset="-120"/>
              </a:rPr>
              <a:t>customer survey</a:t>
            </a:r>
            <a:endParaRPr lang="en-US" sz="1250" dirty="0"/>
          </a:p>
          <a:p>
            <a:pPr algn="l" indent="0" marL="0">
              <a:buNone/>
            </a:pPr>
            <a:r>
              <a:rPr lang="en-US" sz="1250" dirty="0">
                <a:solidFill>
                  <a:srgbClr val="5A5A5A"/>
                </a:solidFill>
                <a:latin typeface="Calibri" pitchFamily="34" charset="0"/>
                <a:ea typeface="Calibri" pitchFamily="34" charset="-122"/>
                <a:cs typeface="Calibri" pitchFamily="34" charset="-120"/>
              </a:rPr>
              <a:t>responses</a:t>
            </a:r>
            <a:endParaRPr lang="en-US" sz="1250" dirty="0"/>
          </a:p>
        </p:txBody>
      </p:sp>
      <p:sp>
        <p:nvSpPr>
          <p:cNvPr id="6" name="Text 4"/>
          <p:cNvSpPr txBox="1"/>
          <p:nvPr/>
        </p:nvSpPr>
        <p:spPr>
          <a:xfrm>
            <a:off x="3108960" y="1874520"/>
            <a:ext cx="2377440" cy="685800"/>
          </a:xfrm>
          <a:prstGeom prst="rect">
            <a:avLst/>
          </a:prstGeom>
          <a:noFill/>
          <a:ln/>
        </p:spPr>
        <p:txBody>
          <a:bodyPr wrap="square" lIns="0" tIns="0" rIns="0" bIns="0" rtlCol="0" anchor="ctr"/>
          <a:lstStyle/>
          <a:p>
            <a:pPr algn="l" indent="0" marL="0">
              <a:buNone/>
            </a:pPr>
            <a:r>
              <a:rPr lang="en-US" sz="4000" b="1" dirty="0">
                <a:solidFill>
                  <a:srgbClr val="2C2C2C"/>
                </a:solidFill>
                <a:latin typeface="Cambria" pitchFamily="34" charset="0"/>
                <a:ea typeface="Cambria" pitchFamily="34" charset="-122"/>
                <a:cs typeface="Cambria" pitchFamily="34" charset="-120"/>
              </a:rPr>
              <a:t>24 → 33</a:t>
            </a:r>
            <a:endParaRPr lang="en-US" sz="4000" dirty="0"/>
          </a:p>
        </p:txBody>
      </p:sp>
      <p:sp>
        <p:nvSpPr>
          <p:cNvPr id="7" name="Text 5"/>
          <p:cNvSpPr txBox="1"/>
          <p:nvPr/>
        </p:nvSpPr>
        <p:spPr>
          <a:xfrm>
            <a:off x="3108960" y="2532888"/>
            <a:ext cx="2377440" cy="502920"/>
          </a:xfrm>
          <a:prstGeom prst="rect">
            <a:avLst/>
          </a:prstGeom>
          <a:noFill/>
          <a:ln/>
        </p:spPr>
        <p:txBody>
          <a:bodyPr wrap="square" lIns="0" tIns="0" rIns="0" bIns="0" rtlCol="0" anchor="ctr"/>
          <a:lstStyle/>
          <a:p>
            <a:pPr algn="l" indent="0" marL="0">
              <a:buNone/>
            </a:pPr>
            <a:r>
              <a:rPr lang="en-US" sz="1250" dirty="0">
                <a:solidFill>
                  <a:srgbClr val="5A5A5A"/>
                </a:solidFill>
                <a:latin typeface="Calibri" pitchFamily="34" charset="0"/>
                <a:ea typeface="Calibri" pitchFamily="34" charset="-122"/>
                <a:cs typeface="Calibri" pitchFamily="34" charset="-120"/>
              </a:rPr>
              <a:t>raw fields, expanded with</a:t>
            </a:r>
            <a:endParaRPr lang="en-US" sz="1250" dirty="0"/>
          </a:p>
          <a:p>
            <a:pPr algn="l" indent="0" marL="0">
              <a:buNone/>
            </a:pPr>
            <a:r>
              <a:rPr lang="en-US" sz="1250" dirty="0">
                <a:solidFill>
                  <a:srgbClr val="5A5A5A"/>
                </a:solidFill>
                <a:latin typeface="Calibri" pitchFamily="34" charset="0"/>
                <a:ea typeface="Calibri" pitchFamily="34" charset="-122"/>
                <a:cs typeface="Calibri" pitchFamily="34" charset="-120"/>
              </a:rPr>
              <a:t>derived behavior scores</a:t>
            </a:r>
            <a:endParaRPr lang="en-US" sz="1250" dirty="0"/>
          </a:p>
        </p:txBody>
      </p:sp>
      <p:sp>
        <p:nvSpPr>
          <p:cNvPr id="8" name="Text 6"/>
          <p:cNvSpPr txBox="1"/>
          <p:nvPr/>
        </p:nvSpPr>
        <p:spPr>
          <a:xfrm>
            <a:off x="5577840" y="1874520"/>
            <a:ext cx="2377440" cy="685800"/>
          </a:xfrm>
          <a:prstGeom prst="rect">
            <a:avLst/>
          </a:prstGeom>
          <a:noFill/>
          <a:ln/>
        </p:spPr>
        <p:txBody>
          <a:bodyPr wrap="square" lIns="0" tIns="0" rIns="0" bIns="0" rtlCol="0" anchor="ctr"/>
          <a:lstStyle/>
          <a:p>
            <a:pPr algn="l" indent="0" marL="0">
              <a:buNone/>
            </a:pPr>
            <a:r>
              <a:rPr lang="en-US" sz="4000" b="1" dirty="0">
                <a:solidFill>
                  <a:srgbClr val="F5A623"/>
                </a:solidFill>
                <a:latin typeface="Cambria" pitchFamily="34" charset="0"/>
                <a:ea typeface="Cambria" pitchFamily="34" charset="-122"/>
                <a:cs typeface="Cambria" pitchFamily="34" charset="-120"/>
              </a:rPr>
              <a:t>0</a:t>
            </a:r>
            <a:endParaRPr lang="en-US" sz="4000" dirty="0"/>
          </a:p>
        </p:txBody>
      </p:sp>
      <p:sp>
        <p:nvSpPr>
          <p:cNvPr id="9" name="Text 7"/>
          <p:cNvSpPr txBox="1"/>
          <p:nvPr/>
        </p:nvSpPr>
        <p:spPr>
          <a:xfrm>
            <a:off x="5577840" y="2532888"/>
            <a:ext cx="2377440" cy="502920"/>
          </a:xfrm>
          <a:prstGeom prst="rect">
            <a:avLst/>
          </a:prstGeom>
          <a:noFill/>
          <a:ln/>
        </p:spPr>
        <p:txBody>
          <a:bodyPr wrap="square" lIns="0" tIns="0" rIns="0" bIns="0" rtlCol="0" anchor="ctr"/>
          <a:lstStyle/>
          <a:p>
            <a:pPr algn="l" indent="0" marL="0">
              <a:buNone/>
            </a:pPr>
            <a:r>
              <a:rPr lang="en-US" sz="1250" dirty="0">
                <a:solidFill>
                  <a:srgbClr val="5A5A5A"/>
                </a:solidFill>
                <a:latin typeface="Calibri" pitchFamily="34" charset="0"/>
                <a:ea typeface="Calibri" pitchFamily="34" charset="-122"/>
                <a:cs typeface="Calibri" pitchFamily="34" charset="-120"/>
              </a:rPr>
              <a:t>missing values remaining</a:t>
            </a:r>
            <a:endParaRPr lang="en-US" sz="1250" dirty="0"/>
          </a:p>
          <a:p>
            <a:pPr algn="l" indent="0" marL="0">
              <a:buNone/>
            </a:pPr>
            <a:r>
              <a:rPr lang="en-US" sz="1250" dirty="0">
                <a:solidFill>
                  <a:srgbClr val="5A5A5A"/>
                </a:solidFill>
                <a:latin typeface="Calibri" pitchFamily="34" charset="0"/>
                <a:ea typeface="Calibri" pitchFamily="34" charset="-122"/>
                <a:cs typeface="Calibri" pitchFamily="34" charset="-120"/>
              </a:rPr>
              <a:t>after cleaning</a:t>
            </a:r>
            <a:endParaRPr lang="en-US" sz="1250" dirty="0"/>
          </a:p>
        </p:txBody>
      </p:sp>
      <p:sp>
        <p:nvSpPr>
          <p:cNvPr id="10" name="Text 8"/>
          <p:cNvSpPr txBox="1"/>
          <p:nvPr/>
        </p:nvSpPr>
        <p:spPr>
          <a:xfrm>
            <a:off x="8046720" y="1874520"/>
            <a:ext cx="3108960" cy="685800"/>
          </a:xfrm>
          <a:prstGeom prst="rect">
            <a:avLst/>
          </a:prstGeom>
          <a:noFill/>
          <a:ln/>
        </p:spPr>
        <p:txBody>
          <a:bodyPr wrap="square" lIns="0" tIns="0" rIns="0" bIns="0" rtlCol="0" anchor="ctr"/>
          <a:lstStyle/>
          <a:p>
            <a:pPr algn="l" indent="0" marL="0">
              <a:buNone/>
            </a:pPr>
            <a:r>
              <a:rPr lang="en-US" sz="4000" b="1" dirty="0">
                <a:solidFill>
                  <a:srgbClr val="2C2C2C"/>
                </a:solidFill>
                <a:latin typeface="Cambria" pitchFamily="34" charset="0"/>
                <a:ea typeface="Cambria" pitchFamily="34" charset="-122"/>
                <a:cs typeface="Cambria" pitchFamily="34" charset="-120"/>
              </a:rPr>
              <a:t>5</a:t>
            </a:r>
            <a:endParaRPr lang="en-US" sz="4000" dirty="0"/>
          </a:p>
        </p:txBody>
      </p:sp>
      <p:sp>
        <p:nvSpPr>
          <p:cNvPr id="11" name="Text 9"/>
          <p:cNvSpPr txBox="1"/>
          <p:nvPr/>
        </p:nvSpPr>
        <p:spPr>
          <a:xfrm>
            <a:off x="8046720" y="2532888"/>
            <a:ext cx="3108960" cy="502920"/>
          </a:xfrm>
          <a:prstGeom prst="rect">
            <a:avLst/>
          </a:prstGeom>
          <a:noFill/>
          <a:ln/>
        </p:spPr>
        <p:txBody>
          <a:bodyPr wrap="square" lIns="0" tIns="0" rIns="0" bIns="0" rtlCol="0" anchor="ctr"/>
          <a:lstStyle/>
          <a:p>
            <a:pPr algn="l" indent="0" marL="0">
              <a:buNone/>
            </a:pPr>
            <a:r>
              <a:rPr lang="en-US" sz="1250" dirty="0">
                <a:solidFill>
                  <a:srgbClr val="5A5A5A"/>
                </a:solidFill>
                <a:latin typeface="Calibri" pitchFamily="34" charset="0"/>
                <a:ea typeface="Calibri" pitchFamily="34" charset="-122"/>
                <a:cs typeface="Calibri" pitchFamily="34" charset="-120"/>
              </a:rPr>
              <a:t>themes covered by</a:t>
            </a:r>
            <a:endParaRPr lang="en-US" sz="1250" dirty="0"/>
          </a:p>
          <a:p>
            <a:pPr algn="l" indent="0" marL="0">
              <a:buNone/>
            </a:pPr>
            <a:r>
              <a:rPr lang="en-US" sz="1250" dirty="0">
                <a:solidFill>
                  <a:srgbClr val="5A5A5A"/>
                </a:solidFill>
                <a:latin typeface="Calibri" pitchFamily="34" charset="0"/>
                <a:ea typeface="Calibri" pitchFamily="34" charset="-122"/>
                <a:cs typeface="Calibri" pitchFamily="34" charset="-120"/>
              </a:rPr>
              <a:t>the survey</a:t>
            </a:r>
            <a:endParaRPr lang="en-US" sz="1250" dirty="0"/>
          </a:p>
        </p:txBody>
      </p:sp>
      <p:sp>
        <p:nvSpPr>
          <p:cNvPr id="12" name="Shape 10"/>
          <p:cNvSpPr/>
          <p:nvPr/>
        </p:nvSpPr>
        <p:spPr>
          <a:xfrm>
            <a:off x="548640" y="3246120"/>
            <a:ext cx="11064240" cy="18288"/>
          </a:xfrm>
          <a:prstGeom prst="rect">
            <a:avLst/>
          </a:prstGeom>
          <a:solidFill>
            <a:srgbClr val="E3E3E3"/>
          </a:solidFill>
          <a:ln/>
        </p:spPr>
      </p:sp>
      <p:sp>
        <p:nvSpPr>
          <p:cNvPr id="13" name="Shape 11"/>
          <p:cNvSpPr/>
          <p:nvPr/>
        </p:nvSpPr>
        <p:spPr>
          <a:xfrm>
            <a:off x="640080" y="3611880"/>
            <a:ext cx="2011680" cy="1691640"/>
          </a:xfrm>
          <a:prstGeom prst="roundRect">
            <a:avLst>
              <a:gd name="adj" fmla="val 4324"/>
            </a:avLst>
          </a:prstGeom>
          <a:solidFill>
            <a:srgbClr val="F4F4F4"/>
          </a:solidFill>
          <a:ln/>
        </p:spPr>
      </p:sp>
      <p:sp>
        <p:nvSpPr>
          <p:cNvPr id="14" name="Text 12"/>
          <p:cNvSpPr txBox="1"/>
          <p:nvPr/>
        </p:nvSpPr>
        <p:spPr>
          <a:xfrm>
            <a:off x="777240" y="3749040"/>
            <a:ext cx="1737360" cy="502920"/>
          </a:xfrm>
          <a:prstGeom prst="rect">
            <a:avLst/>
          </a:prstGeom>
          <a:noFill/>
          <a:ln/>
        </p:spPr>
        <p:txBody>
          <a:bodyPr wrap="square" lIns="0" tIns="0" rIns="0" bIns="0" rtlCol="0" anchor="ctr"/>
          <a:lstStyle/>
          <a:p>
            <a:pPr indent="0" marL="0">
              <a:buNone/>
            </a:pPr>
            <a:r>
              <a:rPr lang="en-US" sz="1400" b="1" dirty="0">
                <a:solidFill>
                  <a:srgbClr val="E4392E"/>
                </a:solidFill>
                <a:latin typeface="Cambria" pitchFamily="34" charset="0"/>
                <a:ea typeface="Cambria" pitchFamily="34" charset="-122"/>
                <a:cs typeface="Cambria" pitchFamily="34" charset="-120"/>
              </a:rPr>
              <a:t>Demographics</a:t>
            </a:r>
            <a:endParaRPr lang="en-US" sz="1400" dirty="0"/>
          </a:p>
        </p:txBody>
      </p:sp>
      <p:sp>
        <p:nvSpPr>
          <p:cNvPr id="15" name="Text 13"/>
          <p:cNvSpPr txBox="1"/>
          <p:nvPr/>
        </p:nvSpPr>
        <p:spPr>
          <a:xfrm>
            <a:off x="777240" y="4224528"/>
            <a:ext cx="1737360" cy="960120"/>
          </a:xfrm>
          <a:prstGeom prst="rect">
            <a:avLst/>
          </a:prstGeom>
          <a:noFill/>
          <a:ln/>
        </p:spPr>
        <p:txBody>
          <a:bodyPr wrap="square" lIns="0" tIns="0" rIns="0" bIns="0" rtlCol="0" anchor="ctr"/>
          <a:lstStyle/>
          <a:p>
            <a:pPr indent="0" marL="0">
              <a:buNone/>
            </a:pPr>
            <a:r>
              <a:rPr lang="en-US" sz="1150" dirty="0">
                <a:solidFill>
                  <a:srgbClr val="5A5A5A"/>
                </a:solidFill>
                <a:latin typeface="Calibri" pitchFamily="34" charset="0"/>
                <a:ea typeface="Calibri" pitchFamily="34" charset="-122"/>
                <a:cs typeface="Calibri" pitchFamily="34" charset="-120"/>
              </a:rPr>
              <a:t>Age, gender</a:t>
            </a:r>
            <a:endParaRPr lang="en-US" sz="1150" dirty="0"/>
          </a:p>
        </p:txBody>
      </p:sp>
      <p:sp>
        <p:nvSpPr>
          <p:cNvPr id="16" name="Shape 14"/>
          <p:cNvSpPr/>
          <p:nvPr/>
        </p:nvSpPr>
        <p:spPr>
          <a:xfrm>
            <a:off x="2788920" y="3611880"/>
            <a:ext cx="2011680" cy="1691640"/>
          </a:xfrm>
          <a:prstGeom prst="roundRect">
            <a:avLst>
              <a:gd name="adj" fmla="val 4324"/>
            </a:avLst>
          </a:prstGeom>
          <a:solidFill>
            <a:srgbClr val="F4F4F4"/>
          </a:solidFill>
          <a:ln/>
        </p:spPr>
      </p:sp>
      <p:sp>
        <p:nvSpPr>
          <p:cNvPr id="17" name="Text 15"/>
          <p:cNvSpPr txBox="1"/>
          <p:nvPr/>
        </p:nvSpPr>
        <p:spPr>
          <a:xfrm>
            <a:off x="2926080" y="3749040"/>
            <a:ext cx="1737360" cy="502920"/>
          </a:xfrm>
          <a:prstGeom prst="rect">
            <a:avLst/>
          </a:prstGeom>
          <a:noFill/>
          <a:ln/>
        </p:spPr>
        <p:txBody>
          <a:bodyPr wrap="square" lIns="0" tIns="0" rIns="0" bIns="0" rtlCol="0" anchor="ctr"/>
          <a:lstStyle/>
          <a:p>
            <a:pPr indent="0" marL="0">
              <a:buNone/>
            </a:pPr>
            <a:r>
              <a:rPr lang="en-US" sz="1400" b="1" dirty="0">
                <a:solidFill>
                  <a:srgbClr val="E4392E"/>
                </a:solidFill>
                <a:latin typeface="Cambria" pitchFamily="34" charset="0"/>
                <a:ea typeface="Cambria" pitchFamily="34" charset="-122"/>
                <a:cs typeface="Cambria" pitchFamily="34" charset="-120"/>
              </a:rPr>
              <a:t>Shopping habits</a:t>
            </a:r>
            <a:endParaRPr lang="en-US" sz="1400" dirty="0"/>
          </a:p>
        </p:txBody>
      </p:sp>
      <p:sp>
        <p:nvSpPr>
          <p:cNvPr id="18" name="Text 16"/>
          <p:cNvSpPr txBox="1"/>
          <p:nvPr/>
        </p:nvSpPr>
        <p:spPr>
          <a:xfrm>
            <a:off x="2926080" y="4224528"/>
            <a:ext cx="1737360" cy="960120"/>
          </a:xfrm>
          <a:prstGeom prst="rect">
            <a:avLst/>
          </a:prstGeom>
          <a:noFill/>
          <a:ln/>
        </p:spPr>
        <p:txBody>
          <a:bodyPr wrap="square" lIns="0" tIns="0" rIns="0" bIns="0" rtlCol="0" anchor="ctr"/>
          <a:lstStyle/>
          <a:p>
            <a:pPr indent="0" marL="0">
              <a:buNone/>
            </a:pPr>
            <a:r>
              <a:rPr lang="en-US" sz="1150" dirty="0">
                <a:solidFill>
                  <a:srgbClr val="5A5A5A"/>
                </a:solidFill>
                <a:latin typeface="Calibri" pitchFamily="34" charset="0"/>
                <a:ea typeface="Calibri" pitchFamily="34" charset="-122"/>
                <a:cs typeface="Calibri" pitchFamily="34" charset="-120"/>
              </a:rPr>
              <a:t>Purchase frequency, categories, browsing</a:t>
            </a:r>
            <a:endParaRPr lang="en-US" sz="1150" dirty="0"/>
          </a:p>
        </p:txBody>
      </p:sp>
      <p:sp>
        <p:nvSpPr>
          <p:cNvPr id="19" name="Shape 17"/>
          <p:cNvSpPr/>
          <p:nvPr/>
        </p:nvSpPr>
        <p:spPr>
          <a:xfrm>
            <a:off x="4937760" y="3611880"/>
            <a:ext cx="2011680" cy="1691640"/>
          </a:xfrm>
          <a:prstGeom prst="roundRect">
            <a:avLst>
              <a:gd name="adj" fmla="val 4324"/>
            </a:avLst>
          </a:prstGeom>
          <a:solidFill>
            <a:srgbClr val="F4F4F4"/>
          </a:solidFill>
          <a:ln/>
        </p:spPr>
      </p:sp>
      <p:sp>
        <p:nvSpPr>
          <p:cNvPr id="20" name="Text 18"/>
          <p:cNvSpPr txBox="1"/>
          <p:nvPr/>
        </p:nvSpPr>
        <p:spPr>
          <a:xfrm>
            <a:off x="5074920" y="3749040"/>
            <a:ext cx="1737360" cy="502920"/>
          </a:xfrm>
          <a:prstGeom prst="rect">
            <a:avLst/>
          </a:prstGeom>
          <a:noFill/>
          <a:ln/>
        </p:spPr>
        <p:txBody>
          <a:bodyPr wrap="square" lIns="0" tIns="0" rIns="0" bIns="0" rtlCol="0" anchor="ctr"/>
          <a:lstStyle/>
          <a:p>
            <a:pPr indent="0" marL="0">
              <a:buNone/>
            </a:pPr>
            <a:r>
              <a:rPr lang="en-US" sz="1400" b="1" dirty="0">
                <a:solidFill>
                  <a:srgbClr val="E4392E"/>
                </a:solidFill>
                <a:latin typeface="Cambria" pitchFamily="34" charset="0"/>
                <a:ea typeface="Cambria" pitchFamily="34" charset="-122"/>
                <a:cs typeface="Cambria" pitchFamily="34" charset="-120"/>
              </a:rPr>
              <a:t>Cart behavior</a:t>
            </a:r>
            <a:endParaRPr lang="en-US" sz="1400" dirty="0"/>
          </a:p>
        </p:txBody>
      </p:sp>
      <p:sp>
        <p:nvSpPr>
          <p:cNvPr id="21" name="Text 19"/>
          <p:cNvSpPr txBox="1"/>
          <p:nvPr/>
        </p:nvSpPr>
        <p:spPr>
          <a:xfrm>
            <a:off x="5074920" y="4224528"/>
            <a:ext cx="1737360" cy="960120"/>
          </a:xfrm>
          <a:prstGeom prst="rect">
            <a:avLst/>
          </a:prstGeom>
          <a:noFill/>
          <a:ln/>
        </p:spPr>
        <p:txBody>
          <a:bodyPr wrap="square" lIns="0" tIns="0" rIns="0" bIns="0" rtlCol="0" anchor="ctr"/>
          <a:lstStyle/>
          <a:p>
            <a:pPr indent="0" marL="0">
              <a:buNone/>
            </a:pPr>
            <a:r>
              <a:rPr lang="en-US" sz="1150" dirty="0">
                <a:solidFill>
                  <a:srgbClr val="5A5A5A"/>
                </a:solidFill>
                <a:latin typeface="Calibri" pitchFamily="34" charset="0"/>
                <a:ea typeface="Calibri" pitchFamily="34" charset="-122"/>
                <a:cs typeface="Calibri" pitchFamily="34" charset="-120"/>
              </a:rPr>
              <a:t>Completion, abandonment, save-for-later</a:t>
            </a:r>
            <a:endParaRPr lang="en-US" sz="1150" dirty="0"/>
          </a:p>
        </p:txBody>
      </p:sp>
      <p:sp>
        <p:nvSpPr>
          <p:cNvPr id="22" name="Shape 20"/>
          <p:cNvSpPr/>
          <p:nvPr/>
        </p:nvSpPr>
        <p:spPr>
          <a:xfrm>
            <a:off x="7086600" y="3611880"/>
            <a:ext cx="2011680" cy="1691640"/>
          </a:xfrm>
          <a:prstGeom prst="roundRect">
            <a:avLst>
              <a:gd name="adj" fmla="val 4324"/>
            </a:avLst>
          </a:prstGeom>
          <a:solidFill>
            <a:srgbClr val="F4F4F4"/>
          </a:solidFill>
          <a:ln/>
        </p:spPr>
      </p:sp>
      <p:sp>
        <p:nvSpPr>
          <p:cNvPr id="23" name="Text 21"/>
          <p:cNvSpPr txBox="1"/>
          <p:nvPr/>
        </p:nvSpPr>
        <p:spPr>
          <a:xfrm>
            <a:off x="7223760" y="3749040"/>
            <a:ext cx="1737360" cy="502920"/>
          </a:xfrm>
          <a:prstGeom prst="rect">
            <a:avLst/>
          </a:prstGeom>
          <a:noFill/>
          <a:ln/>
        </p:spPr>
        <p:txBody>
          <a:bodyPr wrap="square" lIns="0" tIns="0" rIns="0" bIns="0" rtlCol="0" anchor="ctr"/>
          <a:lstStyle/>
          <a:p>
            <a:pPr indent="0" marL="0">
              <a:buNone/>
            </a:pPr>
            <a:r>
              <a:rPr lang="en-US" sz="1400" b="1" dirty="0">
                <a:solidFill>
                  <a:srgbClr val="E4392E"/>
                </a:solidFill>
                <a:latin typeface="Cambria" pitchFamily="34" charset="0"/>
                <a:ea typeface="Cambria" pitchFamily="34" charset="-122"/>
                <a:cs typeface="Cambria" pitchFamily="34" charset="-120"/>
              </a:rPr>
              <a:t>Reviews</a:t>
            </a:r>
            <a:endParaRPr lang="en-US" sz="1400" dirty="0"/>
          </a:p>
        </p:txBody>
      </p:sp>
      <p:sp>
        <p:nvSpPr>
          <p:cNvPr id="24" name="Text 22"/>
          <p:cNvSpPr txBox="1"/>
          <p:nvPr/>
        </p:nvSpPr>
        <p:spPr>
          <a:xfrm>
            <a:off x="7223760" y="4224528"/>
            <a:ext cx="1737360" cy="960120"/>
          </a:xfrm>
          <a:prstGeom prst="rect">
            <a:avLst/>
          </a:prstGeom>
          <a:noFill/>
          <a:ln/>
        </p:spPr>
        <p:txBody>
          <a:bodyPr wrap="square" lIns="0" tIns="0" rIns="0" bIns="0" rtlCol="0" anchor="ctr"/>
          <a:lstStyle/>
          <a:p>
            <a:pPr indent="0" marL="0">
              <a:buNone/>
            </a:pPr>
            <a:r>
              <a:rPr lang="en-US" sz="1150" dirty="0">
                <a:solidFill>
                  <a:srgbClr val="5A5A5A"/>
                </a:solidFill>
                <a:latin typeface="Calibri" pitchFamily="34" charset="0"/>
                <a:ea typeface="Calibri" pitchFamily="34" charset="-122"/>
                <a:cs typeface="Calibri" pitchFamily="34" charset="-120"/>
              </a:rPr>
              <a:t>Trust in reviews, perceived helpfulness</a:t>
            </a:r>
            <a:endParaRPr lang="en-US" sz="1150" dirty="0"/>
          </a:p>
        </p:txBody>
      </p:sp>
      <p:sp>
        <p:nvSpPr>
          <p:cNvPr id="25" name="Shape 23"/>
          <p:cNvSpPr/>
          <p:nvPr/>
        </p:nvSpPr>
        <p:spPr>
          <a:xfrm>
            <a:off x="9235440" y="3611880"/>
            <a:ext cx="2011680" cy="1691640"/>
          </a:xfrm>
          <a:prstGeom prst="roundRect">
            <a:avLst>
              <a:gd name="adj" fmla="val 4324"/>
            </a:avLst>
          </a:prstGeom>
          <a:solidFill>
            <a:srgbClr val="F4F4F4"/>
          </a:solidFill>
          <a:ln/>
        </p:spPr>
      </p:sp>
      <p:sp>
        <p:nvSpPr>
          <p:cNvPr id="26" name="Text 24"/>
          <p:cNvSpPr txBox="1"/>
          <p:nvPr/>
        </p:nvSpPr>
        <p:spPr>
          <a:xfrm>
            <a:off x="9372600" y="3749040"/>
            <a:ext cx="1737360" cy="502920"/>
          </a:xfrm>
          <a:prstGeom prst="rect">
            <a:avLst/>
          </a:prstGeom>
          <a:noFill/>
          <a:ln/>
        </p:spPr>
        <p:txBody>
          <a:bodyPr wrap="square" lIns="0" tIns="0" rIns="0" bIns="0" rtlCol="0" anchor="ctr"/>
          <a:lstStyle/>
          <a:p>
            <a:pPr indent="0" marL="0">
              <a:buNone/>
            </a:pPr>
            <a:r>
              <a:rPr lang="en-US" sz="1400" b="1" dirty="0">
                <a:solidFill>
                  <a:srgbClr val="E4392E"/>
                </a:solidFill>
                <a:latin typeface="Cambria" pitchFamily="34" charset="0"/>
                <a:ea typeface="Cambria" pitchFamily="34" charset="-122"/>
                <a:cs typeface="Cambria" pitchFamily="34" charset="-120"/>
              </a:rPr>
              <a:t>Recommendations</a:t>
            </a:r>
            <a:endParaRPr lang="en-US" sz="1400" dirty="0"/>
          </a:p>
        </p:txBody>
      </p:sp>
      <p:sp>
        <p:nvSpPr>
          <p:cNvPr id="27" name="Text 25"/>
          <p:cNvSpPr txBox="1"/>
          <p:nvPr/>
        </p:nvSpPr>
        <p:spPr>
          <a:xfrm>
            <a:off x="9372600" y="4224528"/>
            <a:ext cx="1737360" cy="960120"/>
          </a:xfrm>
          <a:prstGeom prst="rect">
            <a:avLst/>
          </a:prstGeom>
          <a:noFill/>
          <a:ln/>
        </p:spPr>
        <p:txBody>
          <a:bodyPr wrap="square" lIns="0" tIns="0" rIns="0" bIns="0" rtlCol="0" anchor="ctr"/>
          <a:lstStyle/>
          <a:p>
            <a:pPr indent="0" marL="0">
              <a:buNone/>
            </a:pPr>
            <a:r>
              <a:rPr lang="en-US" sz="1150" dirty="0">
                <a:solidFill>
                  <a:srgbClr val="5A5A5A"/>
                </a:solidFill>
                <a:latin typeface="Calibri" pitchFamily="34" charset="0"/>
                <a:ea typeface="Calibri" pitchFamily="34" charset="-122"/>
                <a:cs typeface="Calibri" pitchFamily="34" charset="-120"/>
              </a:rPr>
              <a:t>Engagement, helpfulness, satisfaction link</a:t>
            </a:r>
            <a:endParaRPr lang="en-US" sz="1150" dirty="0"/>
          </a:p>
        </p:txBody>
      </p:sp>
      <p:sp>
        <p:nvSpPr>
          <p:cNvPr id="28" name="Text 26"/>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PART 2 · WHAT WE FOUND</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A broad, evenly-split customer base</a:t>
            </a:r>
            <a:endParaRPr lang="en-US" sz="3000" dirty="0"/>
          </a:p>
        </p:txBody>
      </p:sp>
      <p:pic>
        <p:nvPicPr>
          <p:cNvPr id="4" name="Image 0" descr="/home/claude/deck/charts/gender_donut.png">    </p:cNvPr>
          <p:cNvPicPr>
            <a:picLocks noChangeAspect="1"/>
          </p:cNvPicPr>
          <p:nvPr/>
        </p:nvPicPr>
        <p:blipFill>
          <a:blip r:embed="rId1"/>
          <a:stretch>
            <a:fillRect/>
          </a:stretch>
        </p:blipFill>
        <p:spPr>
          <a:xfrm>
            <a:off x="548640" y="1691640"/>
            <a:ext cx="4206240" cy="3840480"/>
          </a:xfrm>
          <a:prstGeom prst="rect">
            <a:avLst/>
          </a:prstGeom>
        </p:spPr>
      </p:pic>
      <p:pic>
        <p:nvPicPr>
          <p:cNvPr id="5" name="Image 1" descr="/home/claude/deck/charts/age_hist.png">    </p:cNvPr>
          <p:cNvPicPr>
            <a:picLocks noChangeAspect="1"/>
          </p:cNvPicPr>
          <p:nvPr/>
        </p:nvPicPr>
        <p:blipFill>
          <a:blip r:embed="rId2"/>
          <a:stretch>
            <a:fillRect/>
          </a:stretch>
        </p:blipFill>
        <p:spPr>
          <a:xfrm>
            <a:off x="5029200" y="2011680"/>
            <a:ext cx="6583680" cy="3291840"/>
          </a:xfrm>
          <a:prstGeom prst="rect">
            <a:avLst/>
          </a:prstGeom>
        </p:spPr>
      </p:pic>
      <p:sp>
        <p:nvSpPr>
          <p:cNvPr id="6" name="Text 2"/>
          <p:cNvSpPr txBox="1"/>
          <p:nvPr/>
        </p:nvSpPr>
        <p:spPr>
          <a:xfrm>
            <a:off x="640080" y="5623560"/>
            <a:ext cx="10881360" cy="100584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2C2C2C"/>
                </a:solidFill>
                <a:latin typeface="Calibri" pitchFamily="34" charset="0"/>
                <a:ea typeface="Calibri" pitchFamily="34" charset="-122"/>
                <a:cs typeface="Calibri" pitchFamily="34" charset="-120"/>
              </a:rPr>
              <a:t>Ages span 18–67 (average 36) — no single life stage dominates the base</a:t>
            </a:r>
            <a:endParaRPr lang="en-US" sz="1300" dirty="0"/>
          </a:p>
          <a:p>
            <a:pPr marL="228600" indent="-228600">
              <a:spcAft>
                <a:spcPts val="1200"/>
              </a:spcAft>
              <a:buSzPct val="100000"/>
              <a:buChar char="•"/>
            </a:pPr>
            <a:r>
              <a:rPr lang="en-US" sz="1300" dirty="0">
                <a:solidFill>
                  <a:srgbClr val="2C2C2C"/>
                </a:solidFill>
                <a:latin typeface="Calibri" pitchFamily="34" charset="0"/>
                <a:ea typeface="Calibri" pitchFamily="34" charset="-122"/>
                <a:cs typeface="Calibri" pitchFamily="34" charset="-120"/>
              </a:rPr>
              <a:t>Gender is close to evenly split across all four response categories — marketing and product strategy shouldn't over-index on one demographic</a:t>
            </a:r>
            <a:endParaRPr lang="en-US" sz="1300" dirty="0"/>
          </a:p>
        </p:txBody>
      </p:sp>
      <p:sp>
        <p:nvSpPr>
          <p:cNvPr id="7" name="Text 3"/>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PART 2 · WHAT WE FOUND</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Fashion and beauty lead a broad category spread</a:t>
            </a:r>
            <a:endParaRPr lang="en-US" sz="3000" dirty="0"/>
          </a:p>
        </p:txBody>
      </p:sp>
      <p:pic>
        <p:nvPicPr>
          <p:cNvPr id="4" name="Image 0" descr="/home/claude/deck/charts/top_categories.png">    </p:cNvPr>
          <p:cNvPicPr>
            <a:picLocks noChangeAspect="1"/>
          </p:cNvPicPr>
          <p:nvPr/>
        </p:nvPicPr>
        <p:blipFill>
          <a:blip r:embed="rId1"/>
          <a:stretch>
            <a:fillRect/>
          </a:stretch>
        </p:blipFill>
        <p:spPr>
          <a:xfrm>
            <a:off x="548640" y="1737360"/>
            <a:ext cx="6492240" cy="3840480"/>
          </a:xfrm>
          <a:prstGeom prst="rect">
            <a:avLst/>
          </a:prstGeom>
        </p:spPr>
      </p:pic>
      <p:sp>
        <p:nvSpPr>
          <p:cNvPr id="5" name="Shape 2"/>
          <p:cNvSpPr/>
          <p:nvPr/>
        </p:nvSpPr>
        <p:spPr>
          <a:xfrm>
            <a:off x="7360920" y="1737360"/>
            <a:ext cx="4251960" cy="4114800"/>
          </a:xfrm>
          <a:prstGeom prst="roundRect">
            <a:avLst>
              <a:gd name="adj" fmla="val 1778"/>
            </a:avLst>
          </a:prstGeom>
          <a:solidFill>
            <a:srgbClr val="F4F4F4"/>
          </a:solidFill>
          <a:ln/>
        </p:spPr>
      </p:sp>
      <p:sp>
        <p:nvSpPr>
          <p:cNvPr id="6" name="Text 3"/>
          <p:cNvSpPr txBox="1"/>
          <p:nvPr/>
        </p:nvSpPr>
        <p:spPr>
          <a:xfrm>
            <a:off x="7589520" y="1920240"/>
            <a:ext cx="3840480" cy="365760"/>
          </a:xfrm>
          <a:prstGeom prst="rect">
            <a:avLst/>
          </a:prstGeom>
          <a:noFill/>
          <a:ln/>
        </p:spPr>
        <p:txBody>
          <a:bodyPr wrap="square" lIns="0" tIns="0" rIns="0" bIns="0" rtlCol="0" anchor="ctr"/>
          <a:lstStyle/>
          <a:p>
            <a:pPr indent="0" marL="0">
              <a:buNone/>
            </a:pPr>
            <a:r>
              <a:rPr lang="en-US" sz="1500" b="1" dirty="0">
                <a:solidFill>
                  <a:srgbClr val="E4392E"/>
                </a:solidFill>
                <a:latin typeface="Cambria" pitchFamily="34" charset="0"/>
                <a:ea typeface="Cambria" pitchFamily="34" charset="-122"/>
                <a:cs typeface="Cambria" pitchFamily="34" charset="-120"/>
              </a:rPr>
              <a:t>Reading the mix</a:t>
            </a:r>
            <a:endParaRPr lang="en-US" sz="1500" dirty="0"/>
          </a:p>
        </p:txBody>
      </p:sp>
      <p:sp>
        <p:nvSpPr>
          <p:cNvPr id="7" name="Text 4"/>
          <p:cNvSpPr txBox="1"/>
          <p:nvPr/>
        </p:nvSpPr>
        <p:spPr>
          <a:xfrm>
            <a:off x="7589520" y="2377440"/>
            <a:ext cx="3840480" cy="329184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2C2C2C"/>
                </a:solidFill>
                <a:latin typeface="Calibri" pitchFamily="34" charset="0"/>
                <a:ea typeface="Calibri" pitchFamily="34" charset="-122"/>
                <a:cs typeface="Calibri" pitchFamily="34" charset="-120"/>
              </a:rPr>
              <a:t>Clothing &amp; Fashion tops the list (476 mentions) — the natural anchor category</a:t>
            </a:r>
            <a:endParaRPr lang="en-US" sz="1300" dirty="0"/>
          </a:p>
          <a:p>
            <a:pPr marL="228600" indent="-228600">
              <a:spcAft>
                <a:spcPts val="1400"/>
              </a:spcAft>
              <a:buSzPct val="100000"/>
              <a:buChar char="•"/>
            </a:pPr>
            <a:r>
              <a:rPr lang="en-US" sz="1300" dirty="0">
                <a:solidFill>
                  <a:srgbClr val="2C2C2C"/>
                </a:solidFill>
                <a:latin typeface="Calibri" pitchFamily="34" charset="0"/>
                <a:ea typeface="Calibri" pitchFamily="34" charset="-122"/>
                <a:cs typeface="Calibri" pitchFamily="34" charset="-120"/>
              </a:rPr>
              <a:t>Beauty &amp; Personal Care and Home &amp; Kitchen follow closely — interest is broad, not concentrated in one vertical</a:t>
            </a:r>
            <a:endParaRPr lang="en-US" sz="1300" dirty="0"/>
          </a:p>
          <a:p>
            <a:pPr marL="228600" indent="-228600">
              <a:spcAft>
                <a:spcPts val="1400"/>
              </a:spcAft>
              <a:buSzPct val="100000"/>
              <a:buChar char="•"/>
            </a:pPr>
            <a:r>
              <a:rPr lang="en-US" sz="1300" dirty="0">
                <a:solidFill>
                  <a:srgbClr val="2C2C2C"/>
                </a:solidFill>
                <a:latin typeface="Calibri" pitchFamily="34" charset="0"/>
                <a:ea typeface="Calibri" pitchFamily="34" charset="-122"/>
                <a:cs typeface="Calibri" pitchFamily="34" charset="-120"/>
              </a:rPr>
              <a:t>Purchase frequency is nearly evenly split from monthly to multiple-times-a-week shoppers</a:t>
            </a:r>
            <a:endParaRPr lang="en-US" sz="1300" dirty="0"/>
          </a:p>
        </p:txBody>
      </p:sp>
      <p:sp>
        <p:nvSpPr>
          <p:cNvPr id="8" name="Text 5"/>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PART 2 · WHAT WE FOUND</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Price and shipping — not the app — drive abandonment</a:t>
            </a:r>
            <a:endParaRPr lang="en-US" sz="3000" dirty="0"/>
          </a:p>
        </p:txBody>
      </p:sp>
      <p:pic>
        <p:nvPicPr>
          <p:cNvPr id="4" name="Image 0" descr="/home/claude/deck/charts/cart_abandonment.png">    </p:cNvPr>
          <p:cNvPicPr>
            <a:picLocks noChangeAspect="1"/>
          </p:cNvPicPr>
          <p:nvPr/>
        </p:nvPicPr>
        <p:blipFill>
          <a:blip r:embed="rId1"/>
          <a:stretch>
            <a:fillRect/>
          </a:stretch>
        </p:blipFill>
        <p:spPr>
          <a:xfrm>
            <a:off x="548640" y="1783080"/>
            <a:ext cx="6492240" cy="3566160"/>
          </a:xfrm>
          <a:prstGeom prst="rect">
            <a:avLst/>
          </a:prstGeom>
        </p:spPr>
      </p:pic>
      <p:sp>
        <p:nvSpPr>
          <p:cNvPr id="5" name="Shape 2"/>
          <p:cNvSpPr/>
          <p:nvPr/>
        </p:nvSpPr>
        <p:spPr>
          <a:xfrm>
            <a:off x="7360920" y="1783080"/>
            <a:ext cx="4251960" cy="4023360"/>
          </a:xfrm>
          <a:prstGeom prst="roundRect">
            <a:avLst>
              <a:gd name="adj" fmla="val 1818"/>
            </a:avLst>
          </a:prstGeom>
          <a:solidFill>
            <a:srgbClr val="2C2C2C"/>
          </a:solidFill>
          <a:ln/>
        </p:spPr>
      </p:sp>
      <p:sp>
        <p:nvSpPr>
          <p:cNvPr id="6" name="Text 3"/>
          <p:cNvSpPr txBox="1"/>
          <p:nvPr/>
        </p:nvSpPr>
        <p:spPr>
          <a:xfrm>
            <a:off x="7635240" y="2011680"/>
            <a:ext cx="2743200" cy="777240"/>
          </a:xfrm>
          <a:prstGeom prst="rect">
            <a:avLst/>
          </a:prstGeom>
          <a:noFill/>
          <a:ln/>
        </p:spPr>
        <p:txBody>
          <a:bodyPr wrap="square" lIns="0" tIns="0" rIns="0" bIns="0" rtlCol="0" anchor="ctr"/>
          <a:lstStyle/>
          <a:p>
            <a:pPr indent="0" marL="0">
              <a:buNone/>
            </a:pPr>
            <a:r>
              <a:rPr lang="en-US" sz="4400" b="1" dirty="0">
                <a:solidFill>
                  <a:srgbClr val="F5A623"/>
                </a:solidFill>
                <a:latin typeface="Cambria" pitchFamily="34" charset="0"/>
                <a:ea typeface="Cambria" pitchFamily="34" charset="-122"/>
                <a:cs typeface="Cambria" pitchFamily="34" charset="-120"/>
              </a:rPr>
              <a:t>219</a:t>
            </a:r>
            <a:endParaRPr lang="en-US" sz="4400" dirty="0"/>
          </a:p>
        </p:txBody>
      </p:sp>
      <p:sp>
        <p:nvSpPr>
          <p:cNvPr id="7" name="Text 4"/>
          <p:cNvSpPr txBox="1"/>
          <p:nvPr/>
        </p:nvSpPr>
        <p:spPr>
          <a:xfrm>
            <a:off x="7635240" y="2743200"/>
            <a:ext cx="3703320" cy="10058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customers abandoned a cart after finding a better price elsewhere — the single largest reason cited</a:t>
            </a:r>
            <a:endParaRPr lang="en-US" sz="1300" dirty="0"/>
          </a:p>
        </p:txBody>
      </p:sp>
      <p:sp>
        <p:nvSpPr>
          <p:cNvPr id="8" name="Shape 5"/>
          <p:cNvSpPr/>
          <p:nvPr/>
        </p:nvSpPr>
        <p:spPr>
          <a:xfrm>
            <a:off x="7635240" y="3886200"/>
            <a:ext cx="3474720" cy="13716"/>
          </a:xfrm>
          <a:prstGeom prst="rect">
            <a:avLst/>
          </a:prstGeom>
          <a:solidFill>
            <a:srgbClr val="5A5A5A"/>
          </a:solidFill>
          <a:ln/>
        </p:spPr>
      </p:sp>
      <p:sp>
        <p:nvSpPr>
          <p:cNvPr id="9" name="Text 6"/>
          <p:cNvSpPr txBox="1"/>
          <p:nvPr/>
        </p:nvSpPr>
        <p:spPr>
          <a:xfrm>
            <a:off x="7635240" y="4069080"/>
            <a:ext cx="3703320" cy="1463040"/>
          </a:xfrm>
          <a:prstGeom prst="rect">
            <a:avLst/>
          </a:prstGeom>
          <a:noFill/>
          <a:ln/>
        </p:spPr>
        <p:txBody>
          <a:bodyPr wrap="square" lIns="0" tIns="0" rIns="0" bIns="0" rtlCol="0" anchor="ctr"/>
          <a:lstStyle/>
          <a:p>
            <a:pPr indent="0" marL="0">
              <a:buNone/>
            </a:pPr>
            <a:r>
              <a:rPr lang="en-US" sz="1300" dirty="0">
                <a:solidFill>
                  <a:srgbClr val="D8D8D8"/>
                </a:solidFill>
                <a:latin typeface="Calibri" pitchFamily="34" charset="0"/>
                <a:ea typeface="Calibri" pitchFamily="34" charset="-122"/>
                <a:cs typeface="Calibri" pitchFamily="34" charset="-120"/>
              </a:rPr>
              <a:t>194 more cited high shipping costs — together, price and shipping outweigh every app-experience factor combined.</a:t>
            </a:r>
            <a:endParaRPr lang="en-US" sz="1300" dirty="0"/>
          </a:p>
        </p:txBody>
      </p:sp>
      <p:sp>
        <p:nvSpPr>
          <p:cNvPr id="10" name="Text 7"/>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PART 2 · WHAT WE FOUND</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Satisfaction is polarized, not middling</a:t>
            </a:r>
            <a:endParaRPr lang="en-US" sz="3000" dirty="0"/>
          </a:p>
        </p:txBody>
      </p:sp>
      <p:pic>
        <p:nvPicPr>
          <p:cNvPr id="4" name="Image 0" descr="/home/claude/deck/charts/satisfaction_dist.png">    </p:cNvPr>
          <p:cNvPicPr>
            <a:picLocks noChangeAspect="1"/>
          </p:cNvPicPr>
          <p:nvPr/>
        </p:nvPicPr>
        <p:blipFill>
          <a:blip r:embed="rId1"/>
          <a:stretch>
            <a:fillRect/>
          </a:stretch>
        </p:blipFill>
        <p:spPr>
          <a:xfrm>
            <a:off x="548640" y="1828800"/>
            <a:ext cx="6400800" cy="3749040"/>
          </a:xfrm>
          <a:prstGeom prst="rect">
            <a:avLst/>
          </a:prstGeom>
        </p:spPr>
      </p:pic>
      <p:sp>
        <p:nvSpPr>
          <p:cNvPr id="5" name="Text 2"/>
          <p:cNvSpPr txBox="1"/>
          <p:nvPr/>
        </p:nvSpPr>
        <p:spPr>
          <a:xfrm>
            <a:off x="7406640" y="1965960"/>
            <a:ext cx="4023360" cy="685800"/>
          </a:xfrm>
          <a:prstGeom prst="rect">
            <a:avLst/>
          </a:prstGeom>
          <a:noFill/>
          <a:ln/>
        </p:spPr>
        <p:txBody>
          <a:bodyPr wrap="square" lIns="0" tIns="0" rIns="0" bIns="0" rtlCol="0" anchor="ctr"/>
          <a:lstStyle/>
          <a:p>
            <a:pPr algn="l" indent="0" marL="0">
              <a:buNone/>
            </a:pPr>
            <a:r>
              <a:rPr lang="en-US" sz="4000" b="1" dirty="0">
                <a:solidFill>
                  <a:srgbClr val="E4392E"/>
                </a:solidFill>
                <a:latin typeface="Cambria" pitchFamily="34" charset="0"/>
                <a:ea typeface="Cambria" pitchFamily="34" charset="-122"/>
                <a:cs typeface="Cambria" pitchFamily="34" charset="-120"/>
              </a:rPr>
              <a:t>2.99 / 5</a:t>
            </a:r>
            <a:endParaRPr lang="en-US" sz="4000" dirty="0"/>
          </a:p>
        </p:txBody>
      </p:sp>
      <p:sp>
        <p:nvSpPr>
          <p:cNvPr id="6" name="Text 3"/>
          <p:cNvSpPr txBox="1"/>
          <p:nvPr/>
        </p:nvSpPr>
        <p:spPr>
          <a:xfrm>
            <a:off x="7406640" y="2624328"/>
            <a:ext cx="4023360" cy="502920"/>
          </a:xfrm>
          <a:prstGeom prst="rect">
            <a:avLst/>
          </a:prstGeom>
          <a:noFill/>
          <a:ln/>
        </p:spPr>
        <p:txBody>
          <a:bodyPr wrap="square" lIns="0" tIns="0" rIns="0" bIns="0" rtlCol="0" anchor="ctr"/>
          <a:lstStyle/>
          <a:p>
            <a:pPr algn="l" indent="0" marL="0">
              <a:buNone/>
            </a:pPr>
            <a:r>
              <a:rPr lang="en-US" sz="1250" dirty="0">
                <a:solidFill>
                  <a:srgbClr val="5A5A5A"/>
                </a:solidFill>
                <a:latin typeface="Calibri" pitchFamily="34" charset="0"/>
                <a:ea typeface="Calibri" pitchFamily="34" charset="-122"/>
                <a:cs typeface="Calibri" pitchFamily="34" charset="-120"/>
              </a:rPr>
              <a:t>average shopping satisfaction</a:t>
            </a:r>
            <a:endParaRPr lang="en-US" sz="1250" dirty="0"/>
          </a:p>
          <a:p>
            <a:pPr algn="l" indent="0" marL="0">
              <a:buNone/>
            </a:pPr>
            <a:r>
              <a:rPr lang="en-US" sz="1250" dirty="0">
                <a:solidFill>
                  <a:srgbClr val="5A5A5A"/>
                </a:solidFill>
                <a:latin typeface="Calibri" pitchFamily="34" charset="0"/>
                <a:ea typeface="Calibri" pitchFamily="34" charset="-122"/>
                <a:cs typeface="Calibri" pitchFamily="34" charset="-120"/>
              </a:rPr>
              <a:t>(median also 3.0)</a:t>
            </a:r>
            <a:endParaRPr lang="en-US" sz="1250" dirty="0"/>
          </a:p>
        </p:txBody>
      </p:sp>
      <p:sp>
        <p:nvSpPr>
          <p:cNvPr id="7" name="Text 4"/>
          <p:cNvSpPr txBox="1"/>
          <p:nvPr/>
        </p:nvSpPr>
        <p:spPr>
          <a:xfrm>
            <a:off x="7406640" y="3337560"/>
            <a:ext cx="4023360" cy="685800"/>
          </a:xfrm>
          <a:prstGeom prst="rect">
            <a:avLst/>
          </a:prstGeom>
          <a:noFill/>
          <a:ln/>
        </p:spPr>
        <p:txBody>
          <a:bodyPr wrap="square" lIns="0" tIns="0" rIns="0" bIns="0" rtlCol="0" anchor="ctr"/>
          <a:lstStyle/>
          <a:p>
            <a:pPr algn="l" indent="0" marL="0">
              <a:buNone/>
            </a:pPr>
            <a:r>
              <a:rPr lang="en-US" sz="4000" b="1" dirty="0">
                <a:solidFill>
                  <a:srgbClr val="2C2C2C"/>
                </a:solidFill>
                <a:latin typeface="Cambria" pitchFamily="34" charset="0"/>
                <a:ea typeface="Cambria" pitchFamily="34" charset="-122"/>
                <a:cs typeface="Cambria" pitchFamily="34" charset="-120"/>
              </a:rPr>
              <a:t>1.41</a:t>
            </a:r>
            <a:endParaRPr lang="en-US" sz="4000" dirty="0"/>
          </a:p>
        </p:txBody>
      </p:sp>
      <p:sp>
        <p:nvSpPr>
          <p:cNvPr id="8" name="Text 5"/>
          <p:cNvSpPr txBox="1"/>
          <p:nvPr/>
        </p:nvSpPr>
        <p:spPr>
          <a:xfrm>
            <a:off x="7406640" y="3995928"/>
            <a:ext cx="4023360" cy="502920"/>
          </a:xfrm>
          <a:prstGeom prst="rect">
            <a:avLst/>
          </a:prstGeom>
          <a:noFill/>
          <a:ln/>
        </p:spPr>
        <p:txBody>
          <a:bodyPr wrap="square" lIns="0" tIns="0" rIns="0" bIns="0" rtlCol="0" anchor="ctr"/>
          <a:lstStyle/>
          <a:p>
            <a:pPr algn="l" indent="0" marL="0">
              <a:buNone/>
            </a:pPr>
            <a:r>
              <a:rPr lang="en-US" sz="1250" dirty="0">
                <a:solidFill>
                  <a:srgbClr val="5A5A5A"/>
                </a:solidFill>
                <a:latin typeface="Calibri" pitchFamily="34" charset="0"/>
                <a:ea typeface="Calibri" pitchFamily="34" charset="-122"/>
                <a:cs typeface="Calibri" pitchFamily="34" charset="-120"/>
              </a:rPr>
              <a:t>standard deviation — wide spread</a:t>
            </a:r>
            <a:endParaRPr lang="en-US" sz="1250" dirty="0"/>
          </a:p>
          <a:p>
            <a:pPr algn="l" indent="0" marL="0">
              <a:buNone/>
            </a:pPr>
            <a:r>
              <a:rPr lang="en-US" sz="1250" dirty="0">
                <a:solidFill>
                  <a:srgbClr val="5A5A5A"/>
                </a:solidFill>
                <a:latin typeface="Calibri" pitchFamily="34" charset="0"/>
                <a:ea typeface="Calibri" pitchFamily="34" charset="-122"/>
                <a:cs typeface="Calibri" pitchFamily="34" charset="-120"/>
              </a:rPr>
              <a:t>indicates two very different groups</a:t>
            </a:r>
            <a:endParaRPr lang="en-US" sz="1250" dirty="0"/>
          </a:p>
        </p:txBody>
      </p:sp>
      <p:sp>
        <p:nvSpPr>
          <p:cNvPr id="9" name="Text 6"/>
          <p:cNvSpPr txBox="1"/>
          <p:nvPr/>
        </p:nvSpPr>
        <p:spPr>
          <a:xfrm>
            <a:off x="7406640" y="4800600"/>
            <a:ext cx="4023360" cy="137160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2C2C2C"/>
                </a:solidFill>
                <a:latin typeface="Calibri" pitchFamily="34" charset="0"/>
                <a:ea typeface="Calibri" pitchFamily="34" charset="-122"/>
                <a:cs typeface="Calibri" pitchFamily="34" charset="-120"/>
              </a:rPr>
              <a:t>This is not '3 out of 5 = mildly fine' — it's large blocks of both very satisfied and very dissatisfied customers</a:t>
            </a:r>
            <a:endParaRPr lang="en-US" sz="1300" dirty="0"/>
          </a:p>
        </p:txBody>
      </p:sp>
      <p:sp>
        <p:nvSpPr>
          <p:cNvPr id="10" name="Text 7"/>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PART 2 · WHAT WE FOUND</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56% of customers are currently At-Risk</a:t>
            </a:r>
            <a:endParaRPr lang="en-US" sz="3000" dirty="0"/>
          </a:p>
        </p:txBody>
      </p:sp>
      <p:pic>
        <p:nvPicPr>
          <p:cNvPr id="4" name="Image 0" descr="/home/claude/deck/charts/segments_bar.png">    </p:cNvPr>
          <p:cNvPicPr>
            <a:picLocks noChangeAspect="1"/>
          </p:cNvPicPr>
          <p:nvPr/>
        </p:nvPicPr>
        <p:blipFill>
          <a:blip r:embed="rId1"/>
          <a:stretch>
            <a:fillRect/>
          </a:stretch>
        </p:blipFill>
        <p:spPr>
          <a:xfrm>
            <a:off x="548640" y="1783080"/>
            <a:ext cx="5943600" cy="4023360"/>
          </a:xfrm>
          <a:prstGeom prst="rect">
            <a:avLst/>
          </a:prstGeom>
        </p:spPr>
      </p:pic>
      <p:sp>
        <p:nvSpPr>
          <p:cNvPr id="5" name="Shape 2"/>
          <p:cNvSpPr/>
          <p:nvPr/>
        </p:nvSpPr>
        <p:spPr>
          <a:xfrm>
            <a:off x="6858000" y="1847088"/>
            <a:ext cx="894283" cy="292608"/>
          </a:xfrm>
          <a:prstGeom prst="roundRect">
            <a:avLst>
              <a:gd name="adj" fmla="val 50000"/>
            </a:avLst>
          </a:prstGeom>
          <a:solidFill>
            <a:srgbClr val="F5A623"/>
          </a:solidFill>
          <a:ln/>
        </p:spPr>
      </p:sp>
      <p:sp>
        <p:nvSpPr>
          <p:cNvPr id="6" name="Text 3"/>
          <p:cNvSpPr txBox="1"/>
          <p:nvPr/>
        </p:nvSpPr>
        <p:spPr>
          <a:xfrm>
            <a:off x="6858000" y="1837944"/>
            <a:ext cx="894283"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128 · 16%</a:t>
            </a:r>
            <a:endParaRPr lang="en-US" sz="1100" dirty="0"/>
          </a:p>
        </p:txBody>
      </p:sp>
      <p:sp>
        <p:nvSpPr>
          <p:cNvPr id="7" name="Text 4"/>
          <p:cNvSpPr txBox="1"/>
          <p:nvPr/>
        </p:nvSpPr>
        <p:spPr>
          <a:xfrm>
            <a:off x="8549640" y="1828800"/>
            <a:ext cx="3108960" cy="320040"/>
          </a:xfrm>
          <a:prstGeom prst="rect">
            <a:avLst/>
          </a:prstGeom>
          <a:noFill/>
          <a:ln/>
        </p:spPr>
        <p:txBody>
          <a:bodyPr wrap="square" lIns="0" tIns="0" rIns="0" bIns="0" rtlCol="0" anchor="ctr"/>
          <a:lstStyle/>
          <a:p>
            <a:pPr indent="0" marL="0">
              <a:buNone/>
            </a:pPr>
            <a:r>
              <a:rPr lang="en-US" sz="1450" b="1" dirty="0">
                <a:solidFill>
                  <a:srgbClr val="2C2C2C"/>
                </a:solidFill>
                <a:latin typeface="Cambria" pitchFamily="34" charset="0"/>
                <a:ea typeface="Cambria" pitchFamily="34" charset="-122"/>
                <a:cs typeface="Cambria" pitchFamily="34" charset="-120"/>
              </a:rPr>
              <a:t>Frequent Buyer</a:t>
            </a:r>
            <a:endParaRPr lang="en-US" sz="1450" dirty="0"/>
          </a:p>
        </p:txBody>
      </p:sp>
      <p:sp>
        <p:nvSpPr>
          <p:cNvPr id="8" name="Text 5"/>
          <p:cNvSpPr txBox="1"/>
          <p:nvPr/>
        </p:nvSpPr>
        <p:spPr>
          <a:xfrm>
            <a:off x="6858000" y="2212848"/>
            <a:ext cx="4846320" cy="457200"/>
          </a:xfrm>
          <a:prstGeom prst="rect">
            <a:avLst/>
          </a:prstGeom>
          <a:noFill/>
          <a:ln/>
        </p:spPr>
        <p:txBody>
          <a:bodyPr wrap="square" lIns="0" tIns="0" rIns="0" bIns="0" rtlCol="0" anchor="ctr"/>
          <a:lstStyle/>
          <a:p>
            <a:pPr indent="0" marL="0">
              <a:buNone/>
            </a:pPr>
            <a:r>
              <a:rPr lang="en-US" sz="1200" dirty="0">
                <a:solidFill>
                  <a:srgbClr val="5A5A5A"/>
                </a:solidFill>
                <a:latin typeface="Calibri" pitchFamily="34" charset="0"/>
                <a:ea typeface="Calibri" pitchFamily="34" charset="-122"/>
                <a:cs typeface="Calibri" pitchFamily="34" charset="-120"/>
              </a:rPr>
              <a:t>High purchase frequency + high satisfaction</a:t>
            </a:r>
            <a:endParaRPr lang="en-US" sz="1200" dirty="0"/>
          </a:p>
        </p:txBody>
      </p:sp>
      <p:sp>
        <p:nvSpPr>
          <p:cNvPr id="9" name="Shape 6"/>
          <p:cNvSpPr/>
          <p:nvPr/>
        </p:nvSpPr>
        <p:spPr>
          <a:xfrm>
            <a:off x="6858000" y="2898648"/>
            <a:ext cx="894283" cy="292608"/>
          </a:xfrm>
          <a:prstGeom prst="roundRect">
            <a:avLst>
              <a:gd name="adj" fmla="val 50000"/>
            </a:avLst>
          </a:prstGeom>
          <a:solidFill>
            <a:srgbClr val="5A5A5A"/>
          </a:solidFill>
          <a:ln/>
        </p:spPr>
      </p:sp>
      <p:sp>
        <p:nvSpPr>
          <p:cNvPr id="10" name="Text 7"/>
          <p:cNvSpPr txBox="1"/>
          <p:nvPr/>
        </p:nvSpPr>
        <p:spPr>
          <a:xfrm>
            <a:off x="6858000" y="2889504"/>
            <a:ext cx="894283"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224 · 28%</a:t>
            </a:r>
            <a:endParaRPr lang="en-US" sz="1100" dirty="0"/>
          </a:p>
        </p:txBody>
      </p:sp>
      <p:sp>
        <p:nvSpPr>
          <p:cNvPr id="11" name="Text 8"/>
          <p:cNvSpPr txBox="1"/>
          <p:nvPr/>
        </p:nvSpPr>
        <p:spPr>
          <a:xfrm>
            <a:off x="8549640" y="2880360"/>
            <a:ext cx="3108960" cy="320040"/>
          </a:xfrm>
          <a:prstGeom prst="rect">
            <a:avLst/>
          </a:prstGeom>
          <a:noFill/>
          <a:ln/>
        </p:spPr>
        <p:txBody>
          <a:bodyPr wrap="square" lIns="0" tIns="0" rIns="0" bIns="0" rtlCol="0" anchor="ctr"/>
          <a:lstStyle/>
          <a:p>
            <a:pPr indent="0" marL="0">
              <a:buNone/>
            </a:pPr>
            <a:r>
              <a:rPr lang="en-US" sz="1450" b="1" dirty="0">
                <a:solidFill>
                  <a:srgbClr val="2C2C2C"/>
                </a:solidFill>
                <a:latin typeface="Cambria" pitchFamily="34" charset="0"/>
                <a:ea typeface="Cambria" pitchFamily="34" charset="-122"/>
                <a:cs typeface="Cambria" pitchFamily="34" charset="-120"/>
              </a:rPr>
              <a:t>Occasional Shopper</a:t>
            </a:r>
            <a:endParaRPr lang="en-US" sz="1450" dirty="0"/>
          </a:p>
        </p:txBody>
      </p:sp>
      <p:sp>
        <p:nvSpPr>
          <p:cNvPr id="12" name="Text 9"/>
          <p:cNvSpPr txBox="1"/>
          <p:nvPr/>
        </p:nvSpPr>
        <p:spPr>
          <a:xfrm>
            <a:off x="6858000" y="3264408"/>
            <a:ext cx="4846320" cy="457200"/>
          </a:xfrm>
          <a:prstGeom prst="rect">
            <a:avLst/>
          </a:prstGeom>
          <a:noFill/>
          <a:ln/>
        </p:spPr>
        <p:txBody>
          <a:bodyPr wrap="square" lIns="0" tIns="0" rIns="0" bIns="0" rtlCol="0" anchor="ctr"/>
          <a:lstStyle/>
          <a:p>
            <a:pPr indent="0" marL="0">
              <a:buNone/>
            </a:pPr>
            <a:r>
              <a:rPr lang="en-US" sz="1200" dirty="0">
                <a:solidFill>
                  <a:srgbClr val="5A5A5A"/>
                </a:solidFill>
                <a:latin typeface="Calibri" pitchFamily="34" charset="0"/>
                <a:ea typeface="Calibri" pitchFamily="34" charset="-122"/>
                <a:cs typeface="Calibri" pitchFamily="34" charset="-120"/>
              </a:rPr>
              <a:t>Medium frequency, moderate satisfaction</a:t>
            </a:r>
            <a:endParaRPr lang="en-US" sz="1200" dirty="0"/>
          </a:p>
        </p:txBody>
      </p:sp>
      <p:sp>
        <p:nvSpPr>
          <p:cNvPr id="13" name="Shape 10"/>
          <p:cNvSpPr/>
          <p:nvPr/>
        </p:nvSpPr>
        <p:spPr>
          <a:xfrm>
            <a:off x="6858000" y="3950208"/>
            <a:ext cx="894283" cy="292608"/>
          </a:xfrm>
          <a:prstGeom prst="roundRect">
            <a:avLst>
              <a:gd name="adj" fmla="val 50000"/>
            </a:avLst>
          </a:prstGeom>
          <a:solidFill>
            <a:srgbClr val="E4392E"/>
          </a:solidFill>
          <a:ln/>
        </p:spPr>
      </p:sp>
      <p:sp>
        <p:nvSpPr>
          <p:cNvPr id="14" name="Text 11"/>
          <p:cNvSpPr txBox="1"/>
          <p:nvPr/>
        </p:nvSpPr>
        <p:spPr>
          <a:xfrm>
            <a:off x="6858000" y="3941064"/>
            <a:ext cx="894283"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448 · 56%</a:t>
            </a:r>
            <a:endParaRPr lang="en-US" sz="1100" dirty="0"/>
          </a:p>
        </p:txBody>
      </p:sp>
      <p:sp>
        <p:nvSpPr>
          <p:cNvPr id="15" name="Text 12"/>
          <p:cNvSpPr txBox="1"/>
          <p:nvPr/>
        </p:nvSpPr>
        <p:spPr>
          <a:xfrm>
            <a:off x="8549640" y="3931920"/>
            <a:ext cx="3108960" cy="320040"/>
          </a:xfrm>
          <a:prstGeom prst="rect">
            <a:avLst/>
          </a:prstGeom>
          <a:noFill/>
          <a:ln/>
        </p:spPr>
        <p:txBody>
          <a:bodyPr wrap="square" lIns="0" tIns="0" rIns="0" bIns="0" rtlCol="0" anchor="ctr"/>
          <a:lstStyle/>
          <a:p>
            <a:pPr indent="0" marL="0">
              <a:buNone/>
            </a:pPr>
            <a:r>
              <a:rPr lang="en-US" sz="1450" b="1" dirty="0">
                <a:solidFill>
                  <a:srgbClr val="2C2C2C"/>
                </a:solidFill>
                <a:latin typeface="Cambria" pitchFamily="34" charset="0"/>
                <a:ea typeface="Cambria" pitchFamily="34" charset="-122"/>
                <a:cs typeface="Cambria" pitchFamily="34" charset="-120"/>
              </a:rPr>
              <a:t>At-Risk Customer</a:t>
            </a:r>
            <a:endParaRPr lang="en-US" sz="1450" dirty="0"/>
          </a:p>
        </p:txBody>
      </p:sp>
      <p:sp>
        <p:nvSpPr>
          <p:cNvPr id="16" name="Text 13"/>
          <p:cNvSpPr txBox="1"/>
          <p:nvPr/>
        </p:nvSpPr>
        <p:spPr>
          <a:xfrm>
            <a:off x="6858000" y="4315968"/>
            <a:ext cx="4846320" cy="457200"/>
          </a:xfrm>
          <a:prstGeom prst="rect">
            <a:avLst/>
          </a:prstGeom>
          <a:noFill/>
          <a:ln/>
        </p:spPr>
        <p:txBody>
          <a:bodyPr wrap="square" lIns="0" tIns="0" rIns="0" bIns="0" rtlCol="0" anchor="ctr"/>
          <a:lstStyle/>
          <a:p>
            <a:pPr indent="0" marL="0">
              <a:buNone/>
            </a:pPr>
            <a:r>
              <a:rPr lang="en-US" sz="1200" dirty="0">
                <a:solidFill>
                  <a:srgbClr val="5A5A5A"/>
                </a:solidFill>
                <a:latin typeface="Calibri" pitchFamily="34" charset="0"/>
                <a:ea typeface="Calibri" pitchFamily="34" charset="-122"/>
                <a:cs typeface="Calibri" pitchFamily="34" charset="-120"/>
              </a:rPr>
              <a:t>Low satisfaction or poor cart completion</a:t>
            </a:r>
            <a:endParaRPr lang="en-US" sz="1200" dirty="0"/>
          </a:p>
        </p:txBody>
      </p:sp>
      <p:sp>
        <p:nvSpPr>
          <p:cNvPr id="17" name="Shape 14"/>
          <p:cNvSpPr/>
          <p:nvPr/>
        </p:nvSpPr>
        <p:spPr>
          <a:xfrm>
            <a:off x="6858000" y="5029200"/>
            <a:ext cx="4846320" cy="18288"/>
          </a:xfrm>
          <a:prstGeom prst="rect">
            <a:avLst/>
          </a:prstGeom>
          <a:solidFill>
            <a:srgbClr val="E3E3E3"/>
          </a:solidFill>
          <a:ln/>
        </p:spPr>
      </p:sp>
      <p:sp>
        <p:nvSpPr>
          <p:cNvPr id="18" name="Text 15"/>
          <p:cNvSpPr txBox="1"/>
          <p:nvPr/>
        </p:nvSpPr>
        <p:spPr>
          <a:xfrm>
            <a:off x="6858000" y="5166360"/>
            <a:ext cx="4846320" cy="640080"/>
          </a:xfrm>
          <a:prstGeom prst="rect">
            <a:avLst/>
          </a:prstGeom>
          <a:noFill/>
          <a:ln/>
        </p:spPr>
        <p:txBody>
          <a:bodyPr wrap="square" lIns="0" tIns="0" rIns="0" bIns="0" rtlCol="0" anchor="ctr"/>
          <a:lstStyle/>
          <a:p>
            <a:pPr indent="0" marL="0">
              <a:buNone/>
            </a:pPr>
            <a:r>
              <a:rPr lang="en-US" sz="1300" i="1" dirty="0">
                <a:solidFill>
                  <a:srgbClr val="2C2C2C"/>
                </a:solidFill>
                <a:latin typeface="Calibri" pitchFamily="34" charset="0"/>
                <a:ea typeface="Calibri" pitchFamily="34" charset="-122"/>
                <a:cs typeface="Calibri" pitchFamily="34" charset="-120"/>
              </a:rPr>
              <a:t>Age and gender barely differ across segments — the divide is purely behavioral.</a:t>
            </a:r>
            <a:endParaRPr lang="en-US" sz="1300" dirty="0"/>
          </a:p>
        </p:txBody>
      </p:sp>
      <p:sp>
        <p:nvSpPr>
          <p:cNvPr id="19" name="Text 16"/>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PART 2 · WHAT WE FOUND</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Machine-learned clusters confirm the risk — with a twist</a:t>
            </a:r>
            <a:endParaRPr lang="en-US" sz="3000" dirty="0"/>
          </a:p>
        </p:txBody>
      </p:sp>
      <p:pic>
        <p:nvPicPr>
          <p:cNvPr id="4" name="Image 0" descr="/home/claude/deck/charts/cluster_heatmap_clean.png">    </p:cNvPr>
          <p:cNvPicPr>
            <a:picLocks noChangeAspect="1"/>
          </p:cNvPicPr>
          <p:nvPr/>
        </p:nvPicPr>
        <p:blipFill>
          <a:blip r:embed="rId1"/>
          <a:stretch>
            <a:fillRect/>
          </a:stretch>
        </p:blipFill>
        <p:spPr>
          <a:xfrm>
            <a:off x="457200" y="1828800"/>
            <a:ext cx="6949440" cy="3977640"/>
          </a:xfrm>
          <a:prstGeom prst="rect">
            <a:avLst/>
          </a:prstGeom>
        </p:spPr>
      </p:pic>
      <p:sp>
        <p:nvSpPr>
          <p:cNvPr id="5" name="Shape 2"/>
          <p:cNvSpPr/>
          <p:nvPr/>
        </p:nvSpPr>
        <p:spPr>
          <a:xfrm>
            <a:off x="7635240" y="1828800"/>
            <a:ext cx="4023360" cy="3977640"/>
          </a:xfrm>
          <a:prstGeom prst="roundRect">
            <a:avLst>
              <a:gd name="adj" fmla="val 1839"/>
            </a:avLst>
          </a:prstGeom>
          <a:solidFill>
            <a:srgbClr val="F4F4F4"/>
          </a:solidFill>
          <a:ln/>
        </p:spPr>
      </p:sp>
      <p:sp>
        <p:nvSpPr>
          <p:cNvPr id="6" name="Text 3"/>
          <p:cNvSpPr txBox="1"/>
          <p:nvPr/>
        </p:nvSpPr>
        <p:spPr>
          <a:xfrm>
            <a:off x="7863840" y="2011680"/>
            <a:ext cx="3566160" cy="365760"/>
          </a:xfrm>
          <a:prstGeom prst="rect">
            <a:avLst/>
          </a:prstGeom>
          <a:noFill/>
          <a:ln/>
        </p:spPr>
        <p:txBody>
          <a:bodyPr wrap="square" lIns="0" tIns="0" rIns="0" bIns="0" rtlCol="0" anchor="ctr"/>
          <a:lstStyle/>
          <a:p>
            <a:pPr indent="0" marL="0">
              <a:buNone/>
            </a:pPr>
            <a:r>
              <a:rPr lang="en-US" sz="1450" b="1" dirty="0">
                <a:solidFill>
                  <a:srgbClr val="E4392E"/>
                </a:solidFill>
                <a:latin typeface="Cambria" pitchFamily="34" charset="0"/>
                <a:ea typeface="Cambria" pitchFamily="34" charset="-122"/>
                <a:cs typeface="Cambria" pitchFamily="34" charset="-120"/>
              </a:rPr>
              <a:t>The cluster to watch</a:t>
            </a:r>
            <a:endParaRPr lang="en-US" sz="1450" dirty="0"/>
          </a:p>
        </p:txBody>
      </p:sp>
      <p:sp>
        <p:nvSpPr>
          <p:cNvPr id="7" name="Text 4"/>
          <p:cNvSpPr txBox="1"/>
          <p:nvPr/>
        </p:nvSpPr>
        <p:spPr>
          <a:xfrm>
            <a:off x="7863840" y="2450592"/>
            <a:ext cx="3566160" cy="365760"/>
          </a:xfrm>
          <a:prstGeom prst="rect">
            <a:avLst/>
          </a:prstGeom>
          <a:noFill/>
          <a:ln/>
        </p:spPr>
        <p:txBody>
          <a:bodyPr wrap="square" lIns="0" tIns="0" rIns="0" bIns="0" rtlCol="0" anchor="ctr"/>
          <a:lstStyle/>
          <a:p>
            <a:pPr indent="0" marL="0">
              <a:buNone/>
            </a:pPr>
            <a:r>
              <a:rPr lang="en-US" sz="1600" b="1" dirty="0">
                <a:solidFill>
                  <a:srgbClr val="2C2C2C"/>
                </a:solidFill>
                <a:latin typeface="Cambria" pitchFamily="34" charset="0"/>
                <a:ea typeface="Cambria" pitchFamily="34" charset="-122"/>
                <a:cs typeface="Cambria" pitchFamily="34" charset="-120"/>
              </a:rPr>
              <a:t>“Frequent but Unhappy”</a:t>
            </a:r>
            <a:endParaRPr lang="en-US" sz="1600" dirty="0"/>
          </a:p>
        </p:txBody>
      </p:sp>
      <p:sp>
        <p:nvSpPr>
          <p:cNvPr id="8" name="Text 5"/>
          <p:cNvSpPr txBox="1"/>
          <p:nvPr/>
        </p:nvSpPr>
        <p:spPr>
          <a:xfrm>
            <a:off x="7863840" y="2926080"/>
            <a:ext cx="3566160" cy="2651760"/>
          </a:xfrm>
          <a:prstGeom prst="rect">
            <a:avLst/>
          </a:prstGeom>
          <a:noFill/>
          <a:ln/>
        </p:spPr>
        <p:txBody>
          <a:bodyPr wrap="square" lIns="0" tIns="0" rIns="0" bIns="0" rtlCol="0" anchor="t"/>
          <a:lstStyle/>
          <a:p>
            <a:pPr marL="228600" indent="-228600">
              <a:spcAft>
                <a:spcPts val="1200"/>
              </a:spcAft>
              <a:buSzPct val="100000"/>
              <a:buChar char="•"/>
            </a:pPr>
            <a:r>
              <a:rPr lang="en-US" sz="1250" dirty="0">
                <a:solidFill>
                  <a:srgbClr val="2C2C2C"/>
                </a:solidFill>
                <a:latin typeface="Calibri" pitchFamily="34" charset="0"/>
                <a:ea typeface="Calibri" pitchFamily="34" charset="-122"/>
                <a:cs typeface="Calibri" pitchFamily="34" charset="-120"/>
              </a:rPr>
              <a:t>Buys most often of any cluster — but has one of the lowest satisfaction scores</a:t>
            </a:r>
            <a:endParaRPr lang="en-US" sz="1250" dirty="0"/>
          </a:p>
          <a:p>
            <a:pPr marL="228600" indent="-228600">
              <a:spcAft>
                <a:spcPts val="1200"/>
              </a:spcAft>
              <a:buSzPct val="100000"/>
              <a:buChar char="•"/>
            </a:pPr>
            <a:r>
              <a:rPr lang="en-US" sz="1250" dirty="0">
                <a:solidFill>
                  <a:srgbClr val="2C2C2C"/>
                </a:solidFill>
                <a:latin typeface="Calibri" pitchFamily="34" charset="0"/>
                <a:ea typeface="Calibri" pitchFamily="34" charset="-122"/>
                <a:cs typeface="Calibri" pitchFamily="34" charset="-120"/>
              </a:rPr>
              <a:t>Represents the highest-frequency revenue currently at risk of churn</a:t>
            </a:r>
            <a:endParaRPr lang="en-US" sz="1250" dirty="0"/>
          </a:p>
          <a:p>
            <a:pPr marL="228600" indent="-228600">
              <a:spcAft>
                <a:spcPts val="1200"/>
              </a:spcAft>
              <a:buSzPct val="100000"/>
              <a:buChar char="•"/>
            </a:pPr>
            <a:r>
              <a:rPr lang="en-US" sz="1250" dirty="0">
                <a:solidFill>
                  <a:srgbClr val="2C2C2C"/>
                </a:solidFill>
                <a:latin typeface="Calibri" pitchFamily="34" charset="0"/>
                <a:ea typeface="Calibri" pitchFamily="34" charset="-122"/>
                <a:cs typeface="Calibri" pitchFamily="34" charset="-120"/>
              </a:rPr>
              <a:t>Rule-based segmentation alone would miss this — it looks 'active,' not 'at-risk,' on frequency alone</a:t>
            </a:r>
            <a:endParaRPr lang="en-US" sz="1250" dirty="0"/>
          </a:p>
        </p:txBody>
      </p:sp>
      <p:sp>
        <p:nvSpPr>
          <p:cNvPr id="9" name="Text 6"/>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PART 2 · WHAT WE FOUND</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Today's recommendations barely move satisfaction</a:t>
            </a:r>
            <a:endParaRPr lang="en-US" sz="3000" dirty="0"/>
          </a:p>
        </p:txBody>
      </p:sp>
      <p:pic>
        <p:nvPicPr>
          <p:cNvPr id="4" name="Image 0" descr="/home/claude/deck/charts/corr_bars.png">    </p:cNvPr>
          <p:cNvPicPr>
            <a:picLocks noChangeAspect="1"/>
          </p:cNvPicPr>
          <p:nvPr/>
        </p:nvPicPr>
        <p:blipFill>
          <a:blip r:embed="rId1"/>
          <a:stretch>
            <a:fillRect/>
          </a:stretch>
        </p:blipFill>
        <p:spPr>
          <a:xfrm>
            <a:off x="502920" y="1783080"/>
            <a:ext cx="6492240" cy="3657600"/>
          </a:xfrm>
          <a:prstGeom prst="rect">
            <a:avLst/>
          </a:prstGeom>
        </p:spPr>
      </p:pic>
      <p:sp>
        <p:nvSpPr>
          <p:cNvPr id="5" name="Text 2"/>
          <p:cNvSpPr txBox="1"/>
          <p:nvPr/>
        </p:nvSpPr>
        <p:spPr>
          <a:xfrm>
            <a:off x="548640" y="5486400"/>
            <a:ext cx="6400800" cy="365760"/>
          </a:xfrm>
          <a:prstGeom prst="rect">
            <a:avLst/>
          </a:prstGeom>
          <a:noFill/>
          <a:ln/>
        </p:spPr>
        <p:txBody>
          <a:bodyPr wrap="square" lIns="0" tIns="0" rIns="0" bIns="0" rtlCol="0" anchor="ctr"/>
          <a:lstStyle/>
          <a:p>
            <a:pPr indent="0" marL="0">
              <a:buNone/>
            </a:pPr>
            <a:r>
              <a:rPr lang="en-US" sz="1250" i="1" dirty="0">
                <a:solidFill>
                  <a:srgbClr val="5A5A5A"/>
                </a:solidFill>
                <a:latin typeface="Calibri" pitchFamily="34" charset="0"/>
                <a:ea typeface="Calibri" pitchFamily="34" charset="-122"/>
                <a:cs typeface="Calibri" pitchFamily="34" charset="-120"/>
              </a:rPr>
              <a:t>All four relationships are effectively zero (|r| &lt; 0.05)</a:t>
            </a:r>
            <a:endParaRPr lang="en-US" sz="1250" dirty="0"/>
          </a:p>
        </p:txBody>
      </p:sp>
      <p:sp>
        <p:nvSpPr>
          <p:cNvPr id="6" name="Shape 3"/>
          <p:cNvSpPr/>
          <p:nvPr/>
        </p:nvSpPr>
        <p:spPr>
          <a:xfrm>
            <a:off x="7315200" y="1783080"/>
            <a:ext cx="4343400" cy="4114800"/>
          </a:xfrm>
          <a:prstGeom prst="roundRect">
            <a:avLst>
              <a:gd name="adj" fmla="val 1778"/>
            </a:avLst>
          </a:prstGeom>
          <a:solidFill>
            <a:srgbClr val="2C2C2C"/>
          </a:solidFill>
          <a:ln/>
        </p:spPr>
      </p:sp>
      <p:sp>
        <p:nvSpPr>
          <p:cNvPr id="7" name="Text 4"/>
          <p:cNvSpPr txBox="1"/>
          <p:nvPr/>
        </p:nvSpPr>
        <p:spPr>
          <a:xfrm>
            <a:off x="7589520" y="2011680"/>
            <a:ext cx="3749040" cy="320040"/>
          </a:xfrm>
          <a:prstGeom prst="rect">
            <a:avLst/>
          </a:prstGeom>
          <a:noFill/>
          <a:ln/>
        </p:spPr>
        <p:txBody>
          <a:bodyPr wrap="square" lIns="0" tIns="0" rIns="0" bIns="0" rtlCol="0" anchor="ctr"/>
          <a:lstStyle/>
          <a:p>
            <a:pPr indent="0" marL="0">
              <a:buNone/>
            </a:pPr>
            <a:r>
              <a:rPr lang="en-US" sz="1300" dirty="0">
                <a:solidFill>
                  <a:srgbClr val="D8D8D8"/>
                </a:solidFill>
                <a:latin typeface="Calibri" pitchFamily="34" charset="0"/>
                <a:ea typeface="Calibri" pitchFamily="34" charset="-122"/>
                <a:cs typeface="Calibri" pitchFamily="34" charset="-120"/>
              </a:rPr>
              <a:t>Only</a:t>
            </a:r>
            <a:endParaRPr lang="en-US" sz="1300" dirty="0"/>
          </a:p>
        </p:txBody>
      </p:sp>
      <p:sp>
        <p:nvSpPr>
          <p:cNvPr id="8" name="Text 5"/>
          <p:cNvSpPr txBox="1"/>
          <p:nvPr/>
        </p:nvSpPr>
        <p:spPr>
          <a:xfrm>
            <a:off x="7589520" y="2286000"/>
            <a:ext cx="3749040" cy="822960"/>
          </a:xfrm>
          <a:prstGeom prst="rect">
            <a:avLst/>
          </a:prstGeom>
          <a:noFill/>
          <a:ln/>
        </p:spPr>
        <p:txBody>
          <a:bodyPr wrap="square" lIns="0" tIns="0" rIns="0" bIns="0" rtlCol="0" anchor="ctr"/>
          <a:lstStyle/>
          <a:p>
            <a:pPr indent="0" marL="0">
              <a:buNone/>
            </a:pPr>
            <a:r>
              <a:rPr lang="en-US" sz="4800" b="1" dirty="0">
                <a:solidFill>
                  <a:srgbClr val="F5A623"/>
                </a:solidFill>
                <a:latin typeface="Cambria" pitchFamily="34" charset="0"/>
                <a:ea typeface="Cambria" pitchFamily="34" charset="-122"/>
                <a:cs typeface="Cambria" pitchFamily="34" charset="-120"/>
              </a:rPr>
              <a:t>30%</a:t>
            </a:r>
            <a:endParaRPr lang="en-US" sz="4800" dirty="0"/>
          </a:p>
        </p:txBody>
      </p:sp>
      <p:sp>
        <p:nvSpPr>
          <p:cNvPr id="9" name="Text 6"/>
          <p:cNvSpPr txBox="1"/>
          <p:nvPr/>
        </p:nvSpPr>
        <p:spPr>
          <a:xfrm>
            <a:off x="7589520" y="3108960"/>
            <a:ext cx="374904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of customers say personalized recommendations are consistently helpful</a:t>
            </a:r>
            <a:endParaRPr lang="en-US" sz="1300" dirty="0"/>
          </a:p>
        </p:txBody>
      </p:sp>
      <p:pic>
        <p:nvPicPr>
          <p:cNvPr id="10" name="Image 1" descr="/home/claude/deck/charts/pers_engagement.png">    </p:cNvPr>
          <p:cNvPicPr>
            <a:picLocks noChangeAspect="1"/>
          </p:cNvPicPr>
          <p:nvPr/>
        </p:nvPicPr>
        <p:blipFill>
          <a:blip r:embed="rId2"/>
          <a:stretch>
            <a:fillRect/>
          </a:stretch>
        </p:blipFill>
        <p:spPr>
          <a:xfrm>
            <a:off x="7452360" y="4206240"/>
            <a:ext cx="4069080" cy="1371600"/>
          </a:xfrm>
          <a:prstGeom prst="rect">
            <a:avLst/>
          </a:prstGeom>
        </p:spPr>
      </p:pic>
      <p:sp>
        <p:nvSpPr>
          <p:cNvPr id="11" name="Text 7"/>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PART 2 · WHAT WE FOUND</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Clothing &amp; Fashion is the basket's anchor category</a:t>
            </a:r>
            <a:endParaRPr lang="en-US" sz="3000" dirty="0"/>
          </a:p>
        </p:txBody>
      </p:sp>
      <p:pic>
        <p:nvPicPr>
          <p:cNvPr id="4" name="Image 0" descr="/home/claude/deck/charts/association_rules.png">    </p:cNvPr>
          <p:cNvPicPr>
            <a:picLocks noChangeAspect="1"/>
          </p:cNvPicPr>
          <p:nvPr/>
        </p:nvPicPr>
        <p:blipFill>
          <a:blip r:embed="rId1"/>
          <a:stretch>
            <a:fillRect/>
          </a:stretch>
        </p:blipFill>
        <p:spPr>
          <a:xfrm>
            <a:off x="457200" y="1783080"/>
            <a:ext cx="6858000" cy="3794760"/>
          </a:xfrm>
          <a:prstGeom prst="rect">
            <a:avLst/>
          </a:prstGeom>
        </p:spPr>
      </p:pic>
      <p:pic>
        <p:nvPicPr>
          <p:cNvPr id="5" name="Image 1" descr="/home/claude/deck/charts/cooccurrence_clean.png">    </p:cNvPr>
          <p:cNvPicPr>
            <a:picLocks noChangeAspect="1"/>
          </p:cNvPicPr>
          <p:nvPr/>
        </p:nvPicPr>
        <p:blipFill>
          <a:blip r:embed="rId2"/>
          <a:stretch>
            <a:fillRect/>
          </a:stretch>
        </p:blipFill>
        <p:spPr>
          <a:xfrm>
            <a:off x="7543800" y="1691640"/>
            <a:ext cx="4114800" cy="3977640"/>
          </a:xfrm>
          <a:prstGeom prst="rect">
            <a:avLst/>
          </a:prstGeom>
        </p:spPr>
      </p:pic>
      <p:sp>
        <p:nvSpPr>
          <p:cNvPr id="6" name="Text 2"/>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2C2C"/>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PART 3 · WHAT THIS MEANS</a:t>
            </a:r>
            <a:endParaRPr lang="en-US" sz="1300" dirty="0"/>
          </a:p>
        </p:txBody>
      </p:sp>
      <p:sp>
        <p:nvSpPr>
          <p:cNvPr id="3" name="Text 1"/>
          <p:cNvSpPr txBox="1"/>
          <p:nvPr/>
        </p:nvSpPr>
        <p:spPr>
          <a:xfrm>
            <a:off x="548640" y="658368"/>
            <a:ext cx="10972800" cy="7772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How these findings should reshape recommendations</a:t>
            </a:r>
            <a:endParaRPr lang="en-US" sz="2800" dirty="0"/>
          </a:p>
        </p:txBody>
      </p:sp>
      <p:sp>
        <p:nvSpPr>
          <p:cNvPr id="4" name="Shape 2"/>
          <p:cNvSpPr/>
          <p:nvPr/>
        </p:nvSpPr>
        <p:spPr>
          <a:xfrm>
            <a:off x="548640" y="1691640"/>
            <a:ext cx="5349240" cy="2148840"/>
          </a:xfrm>
          <a:prstGeom prst="roundRect">
            <a:avLst>
              <a:gd name="adj" fmla="val 3830"/>
            </a:avLst>
          </a:prstGeom>
          <a:solidFill>
            <a:srgbClr val="383838"/>
          </a:solidFill>
          <a:ln/>
        </p:spPr>
      </p:sp>
      <p:sp>
        <p:nvSpPr>
          <p:cNvPr id="5" name="Shape 3"/>
          <p:cNvSpPr/>
          <p:nvPr/>
        </p:nvSpPr>
        <p:spPr>
          <a:xfrm>
            <a:off x="777240" y="1920240"/>
            <a:ext cx="384048" cy="384048"/>
          </a:xfrm>
          <a:prstGeom prst="roundRect">
            <a:avLst>
              <a:gd name="adj" fmla="val 50000"/>
            </a:avLst>
          </a:prstGeom>
          <a:solidFill>
            <a:srgbClr val="E4392E"/>
          </a:solidFill>
          <a:ln/>
        </p:spPr>
      </p:sp>
      <p:sp>
        <p:nvSpPr>
          <p:cNvPr id="6" name="Text 4"/>
          <p:cNvSpPr txBox="1"/>
          <p:nvPr/>
        </p:nvSpPr>
        <p:spPr>
          <a:xfrm>
            <a:off x="777240" y="19110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325880" y="1892808"/>
            <a:ext cx="4343400" cy="548640"/>
          </a:xfrm>
          <a:prstGeom prst="rect">
            <a:avLst/>
          </a:prstGeom>
          <a:noFill/>
          <a:ln/>
        </p:spPr>
        <p:txBody>
          <a:bodyPr wrap="square" lIns="0" tIns="0" rIns="0" bIns="0" rtlCol="0" anchor="ctr"/>
          <a:lstStyle/>
          <a:p>
            <a:pPr indent="0" marL="0">
              <a:buNone/>
            </a:pPr>
            <a:r>
              <a:rPr lang="en-US" sz="1500" b="1" dirty="0">
                <a:solidFill>
                  <a:srgbClr val="F5A623"/>
                </a:solidFill>
                <a:latin typeface="Cambria" pitchFamily="34" charset="0"/>
                <a:ea typeface="Cambria" pitchFamily="34" charset="-122"/>
                <a:cs typeface="Cambria" pitchFamily="34" charset="-120"/>
              </a:rPr>
              <a:t>From popularity to basket-affinity</a:t>
            </a:r>
            <a:endParaRPr lang="en-US" sz="1500" dirty="0"/>
          </a:p>
        </p:txBody>
      </p:sp>
      <p:sp>
        <p:nvSpPr>
          <p:cNvPr id="8" name="Text 6"/>
          <p:cNvSpPr txBox="1"/>
          <p:nvPr/>
        </p:nvSpPr>
        <p:spPr>
          <a:xfrm>
            <a:off x="777240" y="2514600"/>
            <a:ext cx="4892040" cy="1143000"/>
          </a:xfrm>
          <a:prstGeom prst="rect">
            <a:avLst/>
          </a:prstGeom>
          <a:noFill/>
          <a:ln/>
        </p:spPr>
        <p:txBody>
          <a:bodyPr wrap="square" lIns="0" tIns="0" rIns="0" bIns="0" rtlCol="0" anchor="ctr"/>
          <a:lstStyle/>
          <a:p>
            <a:pPr indent="0" marL="0">
              <a:lnSpc>
                <a:spcPct val="115000"/>
              </a:lnSpc>
              <a:buNone/>
            </a:pPr>
            <a:r>
              <a:rPr lang="en-US" sz="1250" dirty="0">
                <a:solidFill>
                  <a:srgbClr val="E8E8E8"/>
                </a:solidFill>
                <a:latin typeface="Calibri" pitchFamily="34" charset="0"/>
                <a:ea typeface="Calibri" pitchFamily="34" charset="-122"/>
                <a:cs typeface="Calibri" pitchFamily="34" charset="-120"/>
              </a:rPr>
              <a:t>Recommendation logic barely tracks satisfaction today (r ≈ 0). Rebuild it around the Fashion-anchored association rules from real co-purchases, not generic 'frequently bought' popularity.</a:t>
            </a:r>
            <a:endParaRPr lang="en-US" sz="1250" dirty="0"/>
          </a:p>
        </p:txBody>
      </p:sp>
      <p:sp>
        <p:nvSpPr>
          <p:cNvPr id="9" name="Shape 7"/>
          <p:cNvSpPr/>
          <p:nvPr/>
        </p:nvSpPr>
        <p:spPr>
          <a:xfrm>
            <a:off x="6172200" y="1691640"/>
            <a:ext cx="5349240" cy="2148840"/>
          </a:xfrm>
          <a:prstGeom prst="roundRect">
            <a:avLst>
              <a:gd name="adj" fmla="val 3830"/>
            </a:avLst>
          </a:prstGeom>
          <a:solidFill>
            <a:srgbClr val="383838"/>
          </a:solidFill>
          <a:ln/>
        </p:spPr>
      </p:sp>
      <p:sp>
        <p:nvSpPr>
          <p:cNvPr id="10" name="Shape 8"/>
          <p:cNvSpPr/>
          <p:nvPr/>
        </p:nvSpPr>
        <p:spPr>
          <a:xfrm>
            <a:off x="6400800" y="1920240"/>
            <a:ext cx="384048" cy="384048"/>
          </a:xfrm>
          <a:prstGeom prst="roundRect">
            <a:avLst>
              <a:gd name="adj" fmla="val 50000"/>
            </a:avLst>
          </a:prstGeom>
          <a:solidFill>
            <a:srgbClr val="E4392E"/>
          </a:solidFill>
          <a:ln/>
        </p:spPr>
      </p:sp>
      <p:sp>
        <p:nvSpPr>
          <p:cNvPr id="11" name="Text 9"/>
          <p:cNvSpPr txBox="1"/>
          <p:nvPr/>
        </p:nvSpPr>
        <p:spPr>
          <a:xfrm>
            <a:off x="6400800" y="19110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6949440" y="1892808"/>
            <a:ext cx="4343400" cy="548640"/>
          </a:xfrm>
          <a:prstGeom prst="rect">
            <a:avLst/>
          </a:prstGeom>
          <a:noFill/>
          <a:ln/>
        </p:spPr>
        <p:txBody>
          <a:bodyPr wrap="square" lIns="0" tIns="0" rIns="0" bIns="0" rtlCol="0" anchor="ctr"/>
          <a:lstStyle/>
          <a:p>
            <a:pPr indent="0" marL="0">
              <a:buNone/>
            </a:pPr>
            <a:r>
              <a:rPr lang="en-US" sz="1500" b="1" dirty="0">
                <a:solidFill>
                  <a:srgbClr val="F5A623"/>
                </a:solidFill>
                <a:latin typeface="Cambria" pitchFamily="34" charset="0"/>
                <a:ea typeface="Cambria" pitchFamily="34" charset="-122"/>
                <a:cs typeface="Cambria" pitchFamily="34" charset="-120"/>
              </a:rPr>
              <a:t>Target the frequent-but-unhappy first</a:t>
            </a:r>
            <a:endParaRPr lang="en-US" sz="1500" dirty="0"/>
          </a:p>
        </p:txBody>
      </p:sp>
      <p:sp>
        <p:nvSpPr>
          <p:cNvPr id="13" name="Text 11"/>
          <p:cNvSpPr txBox="1"/>
          <p:nvPr/>
        </p:nvSpPr>
        <p:spPr>
          <a:xfrm>
            <a:off x="6400800" y="2514600"/>
            <a:ext cx="4892040" cy="1143000"/>
          </a:xfrm>
          <a:prstGeom prst="rect">
            <a:avLst/>
          </a:prstGeom>
          <a:noFill/>
          <a:ln/>
        </p:spPr>
        <p:txBody>
          <a:bodyPr wrap="square" lIns="0" tIns="0" rIns="0" bIns="0" rtlCol="0" anchor="ctr"/>
          <a:lstStyle/>
          <a:p>
            <a:pPr indent="0" marL="0">
              <a:lnSpc>
                <a:spcPct val="115000"/>
              </a:lnSpc>
              <a:buNone/>
            </a:pPr>
            <a:r>
              <a:rPr lang="en-US" sz="1250" dirty="0">
                <a:solidFill>
                  <a:srgbClr val="E8E8E8"/>
                </a:solidFill>
                <a:latin typeface="Calibri" pitchFamily="34" charset="0"/>
                <a:ea typeface="Calibri" pitchFamily="34" charset="-122"/>
                <a:cs typeface="Calibri" pitchFamily="34" charset="-120"/>
              </a:rPr>
              <a:t>This cluster buys the most yet is nearly as dissatisfied as At-Risk customers. Feed them differentiated recommendations and offers before they churn — they're the highest-value save.</a:t>
            </a:r>
            <a:endParaRPr lang="en-US" sz="1250" dirty="0"/>
          </a:p>
        </p:txBody>
      </p:sp>
      <p:sp>
        <p:nvSpPr>
          <p:cNvPr id="14" name="Shape 12"/>
          <p:cNvSpPr/>
          <p:nvPr/>
        </p:nvSpPr>
        <p:spPr>
          <a:xfrm>
            <a:off x="548640" y="4114800"/>
            <a:ext cx="5349240" cy="2148840"/>
          </a:xfrm>
          <a:prstGeom prst="roundRect">
            <a:avLst>
              <a:gd name="adj" fmla="val 3830"/>
            </a:avLst>
          </a:prstGeom>
          <a:solidFill>
            <a:srgbClr val="383838"/>
          </a:solidFill>
          <a:ln/>
        </p:spPr>
      </p:sp>
      <p:sp>
        <p:nvSpPr>
          <p:cNvPr id="15" name="Shape 13"/>
          <p:cNvSpPr/>
          <p:nvPr/>
        </p:nvSpPr>
        <p:spPr>
          <a:xfrm>
            <a:off x="777240" y="4343400"/>
            <a:ext cx="384048" cy="384048"/>
          </a:xfrm>
          <a:prstGeom prst="roundRect">
            <a:avLst>
              <a:gd name="adj" fmla="val 50000"/>
            </a:avLst>
          </a:prstGeom>
          <a:solidFill>
            <a:srgbClr val="E4392E"/>
          </a:solidFill>
          <a:ln/>
        </p:spPr>
      </p:sp>
      <p:sp>
        <p:nvSpPr>
          <p:cNvPr id="16" name="Text 14"/>
          <p:cNvSpPr txBox="1"/>
          <p:nvPr/>
        </p:nvSpPr>
        <p:spPr>
          <a:xfrm>
            <a:off x="777240" y="43342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325880" y="4315968"/>
            <a:ext cx="4343400" cy="548640"/>
          </a:xfrm>
          <a:prstGeom prst="rect">
            <a:avLst/>
          </a:prstGeom>
          <a:noFill/>
          <a:ln/>
        </p:spPr>
        <p:txBody>
          <a:bodyPr wrap="square" lIns="0" tIns="0" rIns="0" bIns="0" rtlCol="0" anchor="ctr"/>
          <a:lstStyle/>
          <a:p>
            <a:pPr indent="0" marL="0">
              <a:buNone/>
            </a:pPr>
            <a:r>
              <a:rPr lang="en-US" sz="1500" b="1" dirty="0">
                <a:solidFill>
                  <a:srgbClr val="F5A623"/>
                </a:solidFill>
                <a:latin typeface="Cambria" pitchFamily="34" charset="0"/>
                <a:ea typeface="Cambria" pitchFamily="34" charset="-122"/>
                <a:cs typeface="Cambria" pitchFamily="34" charset="-120"/>
              </a:rPr>
              <a:t>Bundle around price &amp; shipping friction</a:t>
            </a:r>
            <a:endParaRPr lang="en-US" sz="1500" dirty="0"/>
          </a:p>
        </p:txBody>
      </p:sp>
      <p:sp>
        <p:nvSpPr>
          <p:cNvPr id="18" name="Text 16"/>
          <p:cNvSpPr txBox="1"/>
          <p:nvPr/>
        </p:nvSpPr>
        <p:spPr>
          <a:xfrm>
            <a:off x="777240" y="4937760"/>
            <a:ext cx="4892040" cy="1143000"/>
          </a:xfrm>
          <a:prstGeom prst="rect">
            <a:avLst/>
          </a:prstGeom>
          <a:noFill/>
          <a:ln/>
        </p:spPr>
        <p:txBody>
          <a:bodyPr wrap="square" lIns="0" tIns="0" rIns="0" bIns="0" rtlCol="0" anchor="ctr"/>
          <a:lstStyle/>
          <a:p>
            <a:pPr indent="0" marL="0">
              <a:lnSpc>
                <a:spcPct val="115000"/>
              </a:lnSpc>
              <a:buNone/>
            </a:pPr>
            <a:r>
              <a:rPr lang="en-US" sz="1250" dirty="0">
                <a:solidFill>
                  <a:srgbClr val="E8E8E8"/>
                </a:solidFill>
                <a:latin typeface="Calibri" pitchFamily="34" charset="0"/>
                <a:ea typeface="Calibri" pitchFamily="34" charset="-122"/>
                <a:cs typeface="Calibri" pitchFamily="34" charset="-120"/>
              </a:rPr>
              <a:t>Since price and shipping — not discovery — drive abandonment, pair Fashion-anchored bundles with a shipping-fee waiver or bundle discount so recommendations address the real blocker.</a:t>
            </a:r>
            <a:endParaRPr lang="en-US" sz="1250" dirty="0"/>
          </a:p>
        </p:txBody>
      </p:sp>
      <p:sp>
        <p:nvSpPr>
          <p:cNvPr id="19" name="Shape 17"/>
          <p:cNvSpPr/>
          <p:nvPr/>
        </p:nvSpPr>
        <p:spPr>
          <a:xfrm>
            <a:off x="6172200" y="4114800"/>
            <a:ext cx="5349240" cy="2148840"/>
          </a:xfrm>
          <a:prstGeom prst="roundRect">
            <a:avLst>
              <a:gd name="adj" fmla="val 3830"/>
            </a:avLst>
          </a:prstGeom>
          <a:solidFill>
            <a:srgbClr val="383838"/>
          </a:solidFill>
          <a:ln/>
        </p:spPr>
      </p:sp>
      <p:sp>
        <p:nvSpPr>
          <p:cNvPr id="20" name="Shape 18"/>
          <p:cNvSpPr/>
          <p:nvPr/>
        </p:nvSpPr>
        <p:spPr>
          <a:xfrm>
            <a:off x="6400800" y="4343400"/>
            <a:ext cx="384048" cy="384048"/>
          </a:xfrm>
          <a:prstGeom prst="roundRect">
            <a:avLst>
              <a:gd name="adj" fmla="val 50000"/>
            </a:avLst>
          </a:prstGeom>
          <a:solidFill>
            <a:srgbClr val="E4392E"/>
          </a:solidFill>
          <a:ln/>
        </p:spPr>
      </p:sp>
      <p:sp>
        <p:nvSpPr>
          <p:cNvPr id="21" name="Text 19"/>
          <p:cNvSpPr txBox="1"/>
          <p:nvPr/>
        </p:nvSpPr>
        <p:spPr>
          <a:xfrm>
            <a:off x="6400800" y="43342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6949440" y="4315968"/>
            <a:ext cx="4343400" cy="548640"/>
          </a:xfrm>
          <a:prstGeom prst="rect">
            <a:avLst/>
          </a:prstGeom>
          <a:noFill/>
          <a:ln/>
        </p:spPr>
        <p:txBody>
          <a:bodyPr wrap="square" lIns="0" tIns="0" rIns="0" bIns="0" rtlCol="0" anchor="ctr"/>
          <a:lstStyle/>
          <a:p>
            <a:pPr indent="0" marL="0">
              <a:buNone/>
            </a:pPr>
            <a:r>
              <a:rPr lang="en-US" sz="1500" b="1" dirty="0">
                <a:solidFill>
                  <a:srgbClr val="F5A623"/>
                </a:solidFill>
                <a:latin typeface="Cambria" pitchFamily="34" charset="0"/>
                <a:ea typeface="Cambria" pitchFamily="34" charset="-122"/>
                <a:cs typeface="Cambria" pitchFamily="34" charset="-120"/>
              </a:rPr>
              <a:t>Prove it before scaling</a:t>
            </a:r>
            <a:endParaRPr lang="en-US" sz="1500" dirty="0"/>
          </a:p>
        </p:txBody>
      </p:sp>
      <p:sp>
        <p:nvSpPr>
          <p:cNvPr id="23" name="Text 21"/>
          <p:cNvSpPr txBox="1"/>
          <p:nvPr/>
        </p:nvSpPr>
        <p:spPr>
          <a:xfrm>
            <a:off x="6400800" y="4937760"/>
            <a:ext cx="4892040" cy="1143000"/>
          </a:xfrm>
          <a:prstGeom prst="rect">
            <a:avLst/>
          </a:prstGeom>
          <a:noFill/>
          <a:ln/>
        </p:spPr>
        <p:txBody>
          <a:bodyPr wrap="square" lIns="0" tIns="0" rIns="0" bIns="0" rtlCol="0" anchor="ctr"/>
          <a:lstStyle/>
          <a:p>
            <a:pPr indent="0" marL="0">
              <a:lnSpc>
                <a:spcPct val="115000"/>
              </a:lnSpc>
              <a:buNone/>
            </a:pPr>
            <a:r>
              <a:rPr lang="en-US" sz="1250" dirty="0">
                <a:solidFill>
                  <a:srgbClr val="E8E8E8"/>
                </a:solidFill>
                <a:latin typeface="Calibri" pitchFamily="34" charset="0"/>
                <a:ea typeface="Calibri" pitchFamily="34" charset="-122"/>
                <a:cs typeface="Calibri" pitchFamily="34" charset="-120"/>
              </a:rPr>
              <a:t>With 35% of customers unconvinced by current recommendations, A/B test basket-affinity logic against the existing engine before a full rollout.</a:t>
            </a:r>
            <a:endParaRPr lang="en-US" sz="1250" dirty="0"/>
          </a:p>
        </p:txBody>
      </p:sp>
      <p:sp>
        <p:nvSpPr>
          <p:cNvPr id="24" name="Text 22"/>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E4392E"/>
                </a:solidFill>
                <a:latin typeface="Calibri" pitchFamily="34" charset="0"/>
                <a:ea typeface="Calibri" pitchFamily="34" charset="-122"/>
                <a:cs typeface="Calibri" pitchFamily="34" charset="-120"/>
              </a:rPr>
              <a:t>PART 3 · WHAT THIS MEANS</a:t>
            </a:r>
            <a:endParaRPr lang="en-US" sz="1300" dirty="0"/>
          </a:p>
        </p:txBody>
      </p:sp>
      <p:sp>
        <p:nvSpPr>
          <p:cNvPr id="3" name="Text 1"/>
          <p:cNvSpPr txBox="1"/>
          <p:nvPr/>
        </p:nvSpPr>
        <p:spPr>
          <a:xfrm>
            <a:off x="548640" y="658368"/>
            <a:ext cx="10515600" cy="777240"/>
          </a:xfrm>
          <a:prstGeom prst="rect">
            <a:avLst/>
          </a:prstGeom>
          <a:noFill/>
          <a:ln/>
        </p:spPr>
        <p:txBody>
          <a:bodyPr wrap="square" rtlCol="0" anchor="ctr"/>
          <a:lstStyle/>
          <a:p>
            <a:pPr indent="0" marL="0">
              <a:buNone/>
            </a:pPr>
            <a:r>
              <a:rPr lang="en-US" sz="3000" b="1" dirty="0">
                <a:solidFill>
                  <a:srgbClr val="2C2C2C"/>
                </a:solidFill>
                <a:latin typeface="Cambria" pitchFamily="34" charset="0"/>
                <a:ea typeface="Cambria" pitchFamily="34" charset="-122"/>
                <a:cs typeface="Cambria" pitchFamily="34" charset="-120"/>
              </a:rPr>
              <a:t>Suggested next steps</a:t>
            </a:r>
            <a:endParaRPr lang="en-US" sz="3000" dirty="0"/>
          </a:p>
        </p:txBody>
      </p:sp>
      <p:sp>
        <p:nvSpPr>
          <p:cNvPr id="4" name="Shape 2"/>
          <p:cNvSpPr/>
          <p:nvPr/>
        </p:nvSpPr>
        <p:spPr>
          <a:xfrm>
            <a:off x="640080" y="2103120"/>
            <a:ext cx="3383280" cy="3291840"/>
          </a:xfrm>
          <a:prstGeom prst="roundRect">
            <a:avLst>
              <a:gd name="adj" fmla="val 2222"/>
            </a:avLst>
          </a:prstGeom>
          <a:solidFill>
            <a:srgbClr val="F4F4F4"/>
          </a:solidFill>
          <a:ln/>
        </p:spPr>
      </p:sp>
      <p:sp>
        <p:nvSpPr>
          <p:cNvPr id="5" name="Text 3"/>
          <p:cNvSpPr txBox="1"/>
          <p:nvPr/>
        </p:nvSpPr>
        <p:spPr>
          <a:xfrm>
            <a:off x="914400" y="2331720"/>
            <a:ext cx="2880360" cy="457200"/>
          </a:xfrm>
          <a:prstGeom prst="rect">
            <a:avLst/>
          </a:prstGeom>
          <a:noFill/>
          <a:ln/>
        </p:spPr>
        <p:txBody>
          <a:bodyPr wrap="square" lIns="0" tIns="0" rIns="0" bIns="0" rtlCol="0" anchor="ctr"/>
          <a:lstStyle/>
          <a:p>
            <a:pPr indent="0" marL="0">
              <a:buNone/>
            </a:pPr>
            <a:r>
              <a:rPr lang="en-US" sz="1600" b="1" dirty="0">
                <a:solidFill>
                  <a:srgbClr val="E4392E"/>
                </a:solidFill>
                <a:latin typeface="Cambria" pitchFamily="34" charset="0"/>
                <a:ea typeface="Cambria" pitchFamily="34" charset="-122"/>
                <a:cs typeface="Cambria" pitchFamily="34" charset="-120"/>
              </a:rPr>
              <a:t>Now</a:t>
            </a:r>
            <a:endParaRPr lang="en-US" sz="1600" dirty="0"/>
          </a:p>
        </p:txBody>
      </p:sp>
      <p:sp>
        <p:nvSpPr>
          <p:cNvPr id="6" name="Text 4"/>
          <p:cNvSpPr txBox="1"/>
          <p:nvPr/>
        </p:nvSpPr>
        <p:spPr>
          <a:xfrm>
            <a:off x="914400" y="2880360"/>
            <a:ext cx="2880360" cy="2377440"/>
          </a:xfrm>
          <a:prstGeom prst="rect">
            <a:avLst/>
          </a:prstGeom>
          <a:noFill/>
          <a:ln/>
        </p:spPr>
        <p:txBody>
          <a:bodyPr wrap="square" lIns="0" tIns="0" rIns="0" bIns="0" rtlCol="0" anchor="ctr"/>
          <a:lstStyle/>
          <a:p>
            <a:pPr indent="0" marL="0">
              <a:lnSpc>
                <a:spcPct val="120000"/>
              </a:lnSpc>
              <a:buNone/>
            </a:pPr>
            <a:r>
              <a:rPr lang="en-US" sz="1350" dirty="0">
                <a:solidFill>
                  <a:srgbClr val="2C2C2C"/>
                </a:solidFill>
                <a:latin typeface="Calibri" pitchFamily="34" charset="0"/>
                <a:ea typeface="Calibri" pitchFamily="34" charset="-122"/>
                <a:cs typeface="Calibri" pitchFamily="34" charset="-120"/>
              </a:rPr>
              <a:t>Launch a win-back offer for At-Risk and Frequent-but-Unhappy customers, focused on price/shipping incentives</a:t>
            </a:r>
            <a:endParaRPr lang="en-US" sz="1350" dirty="0"/>
          </a:p>
        </p:txBody>
      </p:sp>
      <p:sp>
        <p:nvSpPr>
          <p:cNvPr id="7" name="Shape 5"/>
          <p:cNvSpPr/>
          <p:nvPr/>
        </p:nvSpPr>
        <p:spPr>
          <a:xfrm>
            <a:off x="4251960" y="2103120"/>
            <a:ext cx="3383280" cy="3291840"/>
          </a:xfrm>
          <a:prstGeom prst="roundRect">
            <a:avLst>
              <a:gd name="adj" fmla="val 2222"/>
            </a:avLst>
          </a:prstGeom>
          <a:solidFill>
            <a:srgbClr val="E4392E"/>
          </a:solidFill>
          <a:ln/>
        </p:spPr>
      </p:sp>
      <p:sp>
        <p:nvSpPr>
          <p:cNvPr id="8" name="Text 6"/>
          <p:cNvSpPr txBox="1"/>
          <p:nvPr/>
        </p:nvSpPr>
        <p:spPr>
          <a:xfrm>
            <a:off x="4526280" y="2331720"/>
            <a:ext cx="28803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Next 4–6 weeks</a:t>
            </a:r>
            <a:endParaRPr lang="en-US" sz="1600" dirty="0"/>
          </a:p>
        </p:txBody>
      </p:sp>
      <p:sp>
        <p:nvSpPr>
          <p:cNvPr id="9" name="Text 7"/>
          <p:cNvSpPr txBox="1"/>
          <p:nvPr/>
        </p:nvSpPr>
        <p:spPr>
          <a:xfrm>
            <a:off x="4526280" y="2880360"/>
            <a:ext cx="2880360" cy="2377440"/>
          </a:xfrm>
          <a:prstGeom prst="rect">
            <a:avLst/>
          </a:prstGeom>
          <a:noFill/>
          <a:ln/>
        </p:spPr>
        <p:txBody>
          <a:bodyPr wrap="square" lIns="0" tIns="0" rIns="0" bIns="0" rtlCol="0" anchor="ctr"/>
          <a:lstStyle/>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Rebuild recommendation logic around basket-affinity rules; A/B test against the current engine</a:t>
            </a:r>
            <a:endParaRPr lang="en-US" sz="1350" dirty="0"/>
          </a:p>
        </p:txBody>
      </p:sp>
      <p:sp>
        <p:nvSpPr>
          <p:cNvPr id="10" name="Shape 8"/>
          <p:cNvSpPr/>
          <p:nvPr/>
        </p:nvSpPr>
        <p:spPr>
          <a:xfrm>
            <a:off x="7863840" y="2103120"/>
            <a:ext cx="3383280" cy="3291840"/>
          </a:xfrm>
          <a:prstGeom prst="roundRect">
            <a:avLst>
              <a:gd name="adj" fmla="val 2222"/>
            </a:avLst>
          </a:prstGeom>
          <a:solidFill>
            <a:srgbClr val="F4F4F4"/>
          </a:solidFill>
          <a:ln/>
        </p:spPr>
      </p:sp>
      <p:sp>
        <p:nvSpPr>
          <p:cNvPr id="11" name="Text 9"/>
          <p:cNvSpPr txBox="1"/>
          <p:nvPr/>
        </p:nvSpPr>
        <p:spPr>
          <a:xfrm>
            <a:off x="8138160" y="2331720"/>
            <a:ext cx="2880360" cy="457200"/>
          </a:xfrm>
          <a:prstGeom prst="rect">
            <a:avLst/>
          </a:prstGeom>
          <a:noFill/>
          <a:ln/>
        </p:spPr>
        <p:txBody>
          <a:bodyPr wrap="square" lIns="0" tIns="0" rIns="0" bIns="0" rtlCol="0" anchor="ctr"/>
          <a:lstStyle/>
          <a:p>
            <a:pPr indent="0" marL="0">
              <a:buNone/>
            </a:pPr>
            <a:r>
              <a:rPr lang="en-US" sz="1600" b="1" dirty="0">
                <a:solidFill>
                  <a:srgbClr val="E4392E"/>
                </a:solidFill>
                <a:latin typeface="Cambria" pitchFamily="34" charset="0"/>
                <a:ea typeface="Cambria" pitchFamily="34" charset="-122"/>
                <a:cs typeface="Cambria" pitchFamily="34" charset="-120"/>
              </a:rPr>
              <a:t>Ongoing</a:t>
            </a:r>
            <a:endParaRPr lang="en-US" sz="1600" dirty="0"/>
          </a:p>
        </p:txBody>
      </p:sp>
      <p:sp>
        <p:nvSpPr>
          <p:cNvPr id="12" name="Text 10"/>
          <p:cNvSpPr txBox="1"/>
          <p:nvPr/>
        </p:nvSpPr>
        <p:spPr>
          <a:xfrm>
            <a:off x="8138160" y="2880360"/>
            <a:ext cx="2880360" cy="2377440"/>
          </a:xfrm>
          <a:prstGeom prst="rect">
            <a:avLst/>
          </a:prstGeom>
          <a:noFill/>
          <a:ln/>
        </p:spPr>
        <p:txBody>
          <a:bodyPr wrap="square" lIns="0" tIns="0" rIns="0" bIns="0" rtlCol="0" anchor="ctr"/>
          <a:lstStyle/>
          <a:p>
            <a:pPr indent="0" marL="0">
              <a:lnSpc>
                <a:spcPct val="120000"/>
              </a:lnSpc>
              <a:buNone/>
            </a:pPr>
            <a:r>
              <a:rPr lang="en-US" sz="1350" dirty="0">
                <a:solidFill>
                  <a:srgbClr val="2C2C2C"/>
                </a:solidFill>
                <a:latin typeface="Calibri" pitchFamily="34" charset="0"/>
                <a:ea typeface="Calibri" pitchFamily="34" charset="-122"/>
                <a:cs typeface="Calibri" pitchFamily="34" charset="-120"/>
              </a:rPr>
              <a:t>Track satisfaction and rating-accuracy correlation with the new engine as the success metric — not just click-through</a:t>
            </a:r>
            <a:endParaRPr lang="en-US" sz="1350" dirty="0"/>
          </a:p>
        </p:txBody>
      </p:sp>
      <p:sp>
        <p:nvSpPr>
          <p:cNvPr id="13" name="Text 11"/>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2C2C"/>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E4392E">
              <a:alpha val="15000"/>
            </a:srgbClr>
          </a:solidFill>
          <a:ln/>
        </p:spPr>
      </p:sp>
      <p:sp>
        <p:nvSpPr>
          <p:cNvPr id="3" name="Text 1"/>
          <p:cNvSpPr txBox="1"/>
          <p:nvPr/>
        </p:nvSpPr>
        <p:spPr>
          <a:xfrm>
            <a:off x="822960" y="2743200"/>
            <a:ext cx="9144000" cy="9144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Questions &amp; discussion</a:t>
            </a:r>
            <a:endParaRPr lang="en-US" sz="3400" dirty="0"/>
          </a:p>
        </p:txBody>
      </p:sp>
      <p:sp>
        <p:nvSpPr>
          <p:cNvPr id="4" name="Text 2"/>
          <p:cNvSpPr txBox="1"/>
          <p:nvPr/>
        </p:nvSpPr>
        <p:spPr>
          <a:xfrm>
            <a:off x="822960" y="3566160"/>
            <a:ext cx="8229600" cy="457200"/>
          </a:xfrm>
          <a:prstGeom prst="rect">
            <a:avLst/>
          </a:prstGeom>
          <a:noFill/>
          <a:ln/>
        </p:spPr>
        <p:txBody>
          <a:bodyPr wrap="square" rtlCol="0" anchor="ctr"/>
          <a:lstStyle/>
          <a:p>
            <a:pPr indent="0" marL="0">
              <a:buNone/>
            </a:pPr>
            <a:r>
              <a:rPr lang="en-US" sz="1400" i="1" dirty="0">
                <a:solidFill>
                  <a:srgbClr val="C8C8C8"/>
                </a:solidFill>
                <a:latin typeface="Calibri" pitchFamily="34" charset="0"/>
                <a:ea typeface="Calibri" pitchFamily="34" charset="-122"/>
                <a:cs typeface="Calibri" pitchFamily="34" charset="-120"/>
              </a:rPr>
              <a:t>Full analysis notebook and cleaned dataset available on request.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2026-09-02T06:30:08Z</dcterms:created>
  <dcterms:modified xsi:type="dcterms:W3CDTF">2026-09-02T06:30:08Z</dcterms:modified>
</cp:coreProperties>
</file>